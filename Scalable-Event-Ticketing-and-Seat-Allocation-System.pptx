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9791700"/>
  <p:notesSz cx="11430000" cy="9791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84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7375" y="1358900"/>
            <a:ext cx="4930775" cy="3974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20930" y="1973262"/>
            <a:ext cx="4792980" cy="391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54025"/>
            <a:ext cx="889762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130425"/>
            <a:ext cx="523748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100" dirty="0"/>
              <a:t>Scalable</a:t>
            </a:r>
            <a:r>
              <a:rPr spc="-335" dirty="0"/>
              <a:t> </a:t>
            </a:r>
            <a:r>
              <a:rPr spc="-130" dirty="0"/>
              <a:t>Event</a:t>
            </a:r>
            <a:r>
              <a:rPr spc="-330" dirty="0"/>
              <a:t> </a:t>
            </a:r>
            <a:r>
              <a:rPr spc="-114" dirty="0"/>
              <a:t>Ticketing</a:t>
            </a:r>
            <a:r>
              <a:rPr spc="-335" dirty="0"/>
              <a:t> </a:t>
            </a:r>
            <a:r>
              <a:rPr spc="480" dirty="0"/>
              <a:t>s </a:t>
            </a:r>
            <a:r>
              <a:rPr spc="-110" dirty="0"/>
              <a:t>Seat</a:t>
            </a:r>
            <a:r>
              <a:rPr spc="-355" dirty="0"/>
              <a:t> </a:t>
            </a:r>
            <a:r>
              <a:rPr spc="225" dirty="0"/>
              <a:t>A</a:t>
            </a:r>
            <a:r>
              <a:rPr spc="-229" dirty="0"/>
              <a:t> </a:t>
            </a:r>
            <a:r>
              <a:rPr spc="-130" dirty="0"/>
              <a:t>location</a:t>
            </a:r>
            <a:r>
              <a:rPr spc="-3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3521075"/>
            <a:ext cx="1863725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Submitted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45" dirty="0">
                <a:solidFill>
                  <a:srgbClr val="262424"/>
                </a:solidFill>
                <a:latin typeface="Verdana"/>
                <a:cs typeface="Verdana"/>
              </a:rPr>
              <a:t>to: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Gaurav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25" dirty="0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-135" dirty="0">
                <a:solidFill>
                  <a:srgbClr val="262424"/>
                </a:solidFill>
                <a:latin typeface="Verdana"/>
                <a:cs typeface="Verdana"/>
              </a:rPr>
              <a:t>By: </a:t>
            </a:r>
            <a:r>
              <a:rPr lang="en-US" sz="1350" spc="-210" dirty="0">
                <a:solidFill>
                  <a:srgbClr val="262424"/>
                </a:solidFill>
                <a:latin typeface="Verdana"/>
                <a:cs typeface="Verdana"/>
              </a:rPr>
              <a:t>Sri Charan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701675"/>
            <a:ext cx="1007237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0" dirty="0"/>
              <a:t>The</a:t>
            </a:r>
            <a:r>
              <a:rPr spc="-355" dirty="0"/>
              <a:t> </a:t>
            </a:r>
            <a:r>
              <a:rPr spc="-35" dirty="0"/>
              <a:t>Cha</a:t>
            </a:r>
            <a:r>
              <a:rPr spc="-229" dirty="0"/>
              <a:t> </a:t>
            </a:r>
            <a:r>
              <a:rPr spc="-130" dirty="0"/>
              <a:t>lenge:</a:t>
            </a:r>
            <a:r>
              <a:rPr spc="-350" dirty="0"/>
              <a:t> </a:t>
            </a:r>
            <a:r>
              <a:rPr spc="-140" dirty="0"/>
              <a:t>High</a:t>
            </a:r>
            <a:r>
              <a:rPr spc="-355" dirty="0"/>
              <a:t> </a:t>
            </a:r>
            <a:r>
              <a:rPr spc="-135" dirty="0"/>
              <a:t>Demand,</a:t>
            </a:r>
            <a:r>
              <a:rPr spc="-459" dirty="0"/>
              <a:t> </a:t>
            </a:r>
            <a:r>
              <a:rPr spc="-110" dirty="0"/>
              <a:t>Critical</a:t>
            </a:r>
            <a:r>
              <a:rPr spc="-350" dirty="0"/>
              <a:t> </a:t>
            </a:r>
            <a:r>
              <a:rPr spc="-65" dirty="0"/>
              <a:t>Performance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1609724"/>
            <a:ext cx="5029200" cy="1962150"/>
            <a:chOff x="600075" y="1609724"/>
            <a:chExt cx="5029200" cy="1962150"/>
          </a:xfrm>
        </p:grpSpPr>
        <p:sp>
          <p:nvSpPr>
            <p:cNvPr id="4" name="object 4"/>
            <p:cNvSpPr/>
            <p:nvPr/>
          </p:nvSpPr>
          <p:spPr>
            <a:xfrm>
              <a:off x="604837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49680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897380"/>
                  </a:lnTo>
                  <a:lnTo>
                    <a:pt x="0" y="1901012"/>
                  </a:lnTo>
                  <a:lnTo>
                    <a:pt x="18747" y="1939010"/>
                  </a:lnTo>
                  <a:lnTo>
                    <a:pt x="51619" y="1952625"/>
                  </a:lnTo>
                  <a:lnTo>
                    <a:pt x="4968062" y="1952625"/>
                  </a:lnTo>
                  <a:lnTo>
                    <a:pt x="5006060" y="1933879"/>
                  </a:lnTo>
                  <a:lnTo>
                    <a:pt x="5019675" y="190101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0" y="18973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212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75" y="4203"/>
                  </a:lnTo>
                  <a:lnTo>
                    <a:pt x="4988928" y="5588"/>
                  </a:lnTo>
                  <a:lnTo>
                    <a:pt x="5015471" y="34099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897380"/>
                  </a:lnTo>
                  <a:lnTo>
                    <a:pt x="5019675" y="1901012"/>
                  </a:lnTo>
                  <a:lnTo>
                    <a:pt x="5019319" y="1904593"/>
                  </a:lnTo>
                  <a:lnTo>
                    <a:pt x="5018608" y="1908162"/>
                  </a:lnTo>
                  <a:lnTo>
                    <a:pt x="5017909" y="1911718"/>
                  </a:lnTo>
                  <a:lnTo>
                    <a:pt x="4995125" y="1943315"/>
                  </a:lnTo>
                  <a:lnTo>
                    <a:pt x="4975199" y="1951558"/>
                  </a:lnTo>
                  <a:lnTo>
                    <a:pt x="4971643" y="1952269"/>
                  </a:lnTo>
                  <a:lnTo>
                    <a:pt x="4968062" y="1952625"/>
                  </a:lnTo>
                  <a:lnTo>
                    <a:pt x="4964430" y="1952625"/>
                  </a:lnTo>
                  <a:lnTo>
                    <a:pt x="55245" y="1952625"/>
                  </a:lnTo>
                  <a:lnTo>
                    <a:pt x="51619" y="1952625"/>
                  </a:lnTo>
                  <a:lnTo>
                    <a:pt x="48026" y="1952269"/>
                  </a:lnTo>
                  <a:lnTo>
                    <a:pt x="44465" y="1951558"/>
                  </a:lnTo>
                  <a:lnTo>
                    <a:pt x="40907" y="1950859"/>
                  </a:lnTo>
                  <a:lnTo>
                    <a:pt x="9311" y="1928063"/>
                  </a:lnTo>
                  <a:lnTo>
                    <a:pt x="7292" y="1925053"/>
                  </a:lnTo>
                  <a:lnTo>
                    <a:pt x="5590" y="1921878"/>
                  </a:lnTo>
                  <a:lnTo>
                    <a:pt x="4207" y="1918525"/>
                  </a:lnTo>
                  <a:lnTo>
                    <a:pt x="2818" y="1915172"/>
                  </a:lnTo>
                  <a:lnTo>
                    <a:pt x="1771" y="1911718"/>
                  </a:lnTo>
                  <a:lnTo>
                    <a:pt x="1061" y="1908162"/>
                  </a:lnTo>
                  <a:lnTo>
                    <a:pt x="351" y="1904593"/>
                  </a:lnTo>
                  <a:lnTo>
                    <a:pt x="0" y="1901012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050" y="17906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799" y="1930875"/>
              <a:ext cx="241677" cy="21778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8350" y="2459037"/>
            <a:ext cx="4256405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High</a:t>
            </a:r>
            <a:r>
              <a:rPr sz="1650" b="1" spc="-1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262424"/>
                </a:solidFill>
                <a:latin typeface="Tahoma"/>
                <a:cs typeface="Tahoma"/>
              </a:rPr>
              <a:t>Traffic</a:t>
            </a:r>
            <a:r>
              <a:rPr sz="1650" b="1" spc="-1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Surges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Managing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massive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concurrent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user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loads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during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event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launches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without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system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collapse.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00725" y="1609724"/>
            <a:ext cx="5029200" cy="1962150"/>
            <a:chOff x="5800725" y="1609724"/>
            <a:chExt cx="5029200" cy="1962150"/>
          </a:xfrm>
        </p:grpSpPr>
        <p:sp>
          <p:nvSpPr>
            <p:cNvPr id="10" name="object 10"/>
            <p:cNvSpPr/>
            <p:nvPr/>
          </p:nvSpPr>
          <p:spPr>
            <a:xfrm>
              <a:off x="5805487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49680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897380"/>
                  </a:lnTo>
                  <a:lnTo>
                    <a:pt x="0" y="1901012"/>
                  </a:lnTo>
                  <a:lnTo>
                    <a:pt x="18745" y="1939010"/>
                  </a:lnTo>
                  <a:lnTo>
                    <a:pt x="51612" y="1952625"/>
                  </a:lnTo>
                  <a:lnTo>
                    <a:pt x="4968062" y="1952625"/>
                  </a:lnTo>
                  <a:lnTo>
                    <a:pt x="5006060" y="1933879"/>
                  </a:lnTo>
                  <a:lnTo>
                    <a:pt x="5019675" y="190101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05487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0" y="18973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199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62" y="4203"/>
                  </a:lnTo>
                  <a:lnTo>
                    <a:pt x="4988928" y="5588"/>
                  </a:lnTo>
                  <a:lnTo>
                    <a:pt x="4992103" y="7289"/>
                  </a:lnTo>
                  <a:lnTo>
                    <a:pt x="4995113" y="9309"/>
                  </a:lnTo>
                  <a:lnTo>
                    <a:pt x="4998135" y="11328"/>
                  </a:lnTo>
                  <a:lnTo>
                    <a:pt x="5000929" y="13614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897380"/>
                  </a:lnTo>
                  <a:lnTo>
                    <a:pt x="5019675" y="1901012"/>
                  </a:lnTo>
                  <a:lnTo>
                    <a:pt x="5019319" y="1904593"/>
                  </a:lnTo>
                  <a:lnTo>
                    <a:pt x="5018608" y="1908162"/>
                  </a:lnTo>
                  <a:lnTo>
                    <a:pt x="5017909" y="1911718"/>
                  </a:lnTo>
                  <a:lnTo>
                    <a:pt x="5003495" y="1936445"/>
                  </a:lnTo>
                  <a:lnTo>
                    <a:pt x="5000929" y="1939010"/>
                  </a:lnTo>
                  <a:lnTo>
                    <a:pt x="4975199" y="1951558"/>
                  </a:lnTo>
                  <a:lnTo>
                    <a:pt x="4971643" y="1952269"/>
                  </a:lnTo>
                  <a:lnTo>
                    <a:pt x="4968062" y="1952625"/>
                  </a:lnTo>
                  <a:lnTo>
                    <a:pt x="4964430" y="1952625"/>
                  </a:lnTo>
                  <a:lnTo>
                    <a:pt x="55245" y="1952625"/>
                  </a:lnTo>
                  <a:lnTo>
                    <a:pt x="51612" y="1952625"/>
                  </a:lnTo>
                  <a:lnTo>
                    <a:pt x="48018" y="1952269"/>
                  </a:lnTo>
                  <a:lnTo>
                    <a:pt x="44462" y="1951558"/>
                  </a:lnTo>
                  <a:lnTo>
                    <a:pt x="40906" y="1950859"/>
                  </a:lnTo>
                  <a:lnTo>
                    <a:pt x="9309" y="1928063"/>
                  </a:lnTo>
                  <a:lnTo>
                    <a:pt x="7289" y="1925053"/>
                  </a:lnTo>
                  <a:lnTo>
                    <a:pt x="5588" y="1921878"/>
                  </a:lnTo>
                  <a:lnTo>
                    <a:pt x="4203" y="1918525"/>
                  </a:lnTo>
                  <a:lnTo>
                    <a:pt x="2819" y="1915172"/>
                  </a:lnTo>
                  <a:lnTo>
                    <a:pt x="1765" y="1911718"/>
                  </a:lnTo>
                  <a:lnTo>
                    <a:pt x="1066" y="1908162"/>
                  </a:lnTo>
                  <a:lnTo>
                    <a:pt x="355" y="1904593"/>
                  </a:lnTo>
                  <a:lnTo>
                    <a:pt x="0" y="1901012"/>
                  </a:lnTo>
                  <a:lnTo>
                    <a:pt x="0" y="1897380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1700" y="17906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9514" y="1918964"/>
              <a:ext cx="241552" cy="24160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969000" y="2459037"/>
            <a:ext cx="462407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262424"/>
                </a:solidFill>
                <a:latin typeface="Tahoma"/>
                <a:cs typeface="Tahoma"/>
              </a:rPr>
              <a:t>Preventing</a:t>
            </a:r>
            <a:r>
              <a:rPr sz="1650" b="1" spc="-9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Oversells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Ensuring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no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more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tickets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are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sold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than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available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maintain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customer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trust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operational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integrity.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0075" y="3743325"/>
            <a:ext cx="5029200" cy="1971675"/>
            <a:chOff x="600075" y="3743325"/>
            <a:chExt cx="5029200" cy="1971675"/>
          </a:xfrm>
        </p:grpSpPr>
        <p:sp>
          <p:nvSpPr>
            <p:cNvPr id="16" name="object 16"/>
            <p:cNvSpPr/>
            <p:nvPr/>
          </p:nvSpPr>
          <p:spPr>
            <a:xfrm>
              <a:off x="604837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906906"/>
                  </a:lnTo>
                  <a:lnTo>
                    <a:pt x="0" y="1910532"/>
                  </a:lnTo>
                  <a:lnTo>
                    <a:pt x="18747" y="1948533"/>
                  </a:lnTo>
                  <a:lnTo>
                    <a:pt x="51619" y="1962146"/>
                  </a:lnTo>
                  <a:lnTo>
                    <a:pt x="4968062" y="1962146"/>
                  </a:lnTo>
                  <a:lnTo>
                    <a:pt x="5006060" y="1943403"/>
                  </a:lnTo>
                  <a:lnTo>
                    <a:pt x="5019675" y="191053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37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212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75" y="4203"/>
                  </a:lnTo>
                  <a:lnTo>
                    <a:pt x="4988928" y="5588"/>
                  </a:lnTo>
                  <a:lnTo>
                    <a:pt x="5015471" y="34099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906906"/>
                  </a:lnTo>
                  <a:lnTo>
                    <a:pt x="5019675" y="1910532"/>
                  </a:lnTo>
                  <a:lnTo>
                    <a:pt x="5019319" y="1914123"/>
                  </a:lnTo>
                  <a:lnTo>
                    <a:pt x="5018608" y="1917680"/>
                  </a:lnTo>
                  <a:lnTo>
                    <a:pt x="5017909" y="1921238"/>
                  </a:lnTo>
                  <a:lnTo>
                    <a:pt x="4995125" y="1952839"/>
                  </a:lnTo>
                  <a:lnTo>
                    <a:pt x="4985562" y="1957943"/>
                  </a:lnTo>
                  <a:lnTo>
                    <a:pt x="4982222" y="1959328"/>
                  </a:lnTo>
                  <a:lnTo>
                    <a:pt x="4964430" y="1962151"/>
                  </a:lnTo>
                  <a:lnTo>
                    <a:pt x="55245" y="1962151"/>
                  </a:lnTo>
                  <a:lnTo>
                    <a:pt x="18747" y="1948533"/>
                  </a:lnTo>
                  <a:lnTo>
                    <a:pt x="9311" y="1937594"/>
                  </a:lnTo>
                  <a:lnTo>
                    <a:pt x="7292" y="1934578"/>
                  </a:lnTo>
                  <a:lnTo>
                    <a:pt x="5590" y="1931398"/>
                  </a:lnTo>
                  <a:lnTo>
                    <a:pt x="4207" y="1928044"/>
                  </a:lnTo>
                  <a:lnTo>
                    <a:pt x="2818" y="1924696"/>
                  </a:lnTo>
                  <a:lnTo>
                    <a:pt x="1771" y="1921238"/>
                  </a:lnTo>
                  <a:lnTo>
                    <a:pt x="1061" y="1917680"/>
                  </a:lnTo>
                  <a:lnTo>
                    <a:pt x="351" y="1914123"/>
                  </a:lnTo>
                  <a:lnTo>
                    <a:pt x="0" y="1910532"/>
                  </a:lnTo>
                  <a:lnTo>
                    <a:pt x="0" y="1906906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1050" y="39243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925" y="4118835"/>
              <a:ext cx="236587" cy="12822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68350" y="4592637"/>
            <a:ext cx="415607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0" dirty="0">
                <a:solidFill>
                  <a:srgbClr val="262424"/>
                </a:solidFill>
                <a:latin typeface="Tahoma"/>
                <a:cs typeface="Tahoma"/>
              </a:rPr>
              <a:t>Low-</a:t>
            </a:r>
            <a:r>
              <a:rPr sz="1650" b="1" spc="-45" dirty="0">
                <a:solidFill>
                  <a:srgbClr val="262424"/>
                </a:solidFill>
                <a:latin typeface="Tahoma"/>
                <a:cs typeface="Tahoma"/>
              </a:rPr>
              <a:t>Latency</a:t>
            </a:r>
            <a:r>
              <a:rPr sz="16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Checkout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Providing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swift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seamless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purchase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experience,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critical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user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satisfaction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during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peak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demand.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00725" y="3743325"/>
            <a:ext cx="5029200" cy="1971675"/>
            <a:chOff x="5800725" y="3743325"/>
            <a:chExt cx="5029200" cy="1971675"/>
          </a:xfrm>
        </p:grpSpPr>
        <p:sp>
          <p:nvSpPr>
            <p:cNvPr id="22" name="object 22"/>
            <p:cNvSpPr/>
            <p:nvPr/>
          </p:nvSpPr>
          <p:spPr>
            <a:xfrm>
              <a:off x="5805487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906906"/>
                  </a:lnTo>
                  <a:lnTo>
                    <a:pt x="0" y="1910532"/>
                  </a:lnTo>
                  <a:lnTo>
                    <a:pt x="18745" y="1948533"/>
                  </a:lnTo>
                  <a:lnTo>
                    <a:pt x="51612" y="1962146"/>
                  </a:lnTo>
                  <a:lnTo>
                    <a:pt x="4968062" y="1962146"/>
                  </a:lnTo>
                  <a:lnTo>
                    <a:pt x="5006060" y="1943403"/>
                  </a:lnTo>
                  <a:lnTo>
                    <a:pt x="5019675" y="191053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5487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199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62" y="4203"/>
                  </a:lnTo>
                  <a:lnTo>
                    <a:pt x="4988928" y="5588"/>
                  </a:lnTo>
                  <a:lnTo>
                    <a:pt x="4992103" y="7289"/>
                  </a:lnTo>
                  <a:lnTo>
                    <a:pt x="4995113" y="9309"/>
                  </a:lnTo>
                  <a:lnTo>
                    <a:pt x="4998135" y="11328"/>
                  </a:lnTo>
                  <a:lnTo>
                    <a:pt x="5000929" y="13614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906906"/>
                  </a:lnTo>
                  <a:lnTo>
                    <a:pt x="5019675" y="1910532"/>
                  </a:lnTo>
                  <a:lnTo>
                    <a:pt x="5019319" y="1914123"/>
                  </a:lnTo>
                  <a:lnTo>
                    <a:pt x="5018608" y="1917680"/>
                  </a:lnTo>
                  <a:lnTo>
                    <a:pt x="5017909" y="1921238"/>
                  </a:lnTo>
                  <a:lnTo>
                    <a:pt x="4995113" y="1952839"/>
                  </a:lnTo>
                  <a:lnTo>
                    <a:pt x="4992103" y="1954853"/>
                  </a:lnTo>
                  <a:lnTo>
                    <a:pt x="4988928" y="1956555"/>
                  </a:lnTo>
                  <a:lnTo>
                    <a:pt x="4985562" y="1957943"/>
                  </a:lnTo>
                  <a:lnTo>
                    <a:pt x="4982222" y="1959328"/>
                  </a:lnTo>
                  <a:lnTo>
                    <a:pt x="4964430" y="1962151"/>
                  </a:lnTo>
                  <a:lnTo>
                    <a:pt x="55245" y="1962151"/>
                  </a:lnTo>
                  <a:lnTo>
                    <a:pt x="18745" y="1948533"/>
                  </a:lnTo>
                  <a:lnTo>
                    <a:pt x="4203" y="1928044"/>
                  </a:lnTo>
                  <a:lnTo>
                    <a:pt x="2819" y="1924696"/>
                  </a:lnTo>
                  <a:lnTo>
                    <a:pt x="1765" y="1921238"/>
                  </a:lnTo>
                  <a:lnTo>
                    <a:pt x="1066" y="1917680"/>
                  </a:lnTo>
                  <a:lnTo>
                    <a:pt x="355" y="1914123"/>
                  </a:lnTo>
                  <a:lnTo>
                    <a:pt x="0" y="1910532"/>
                  </a:lnTo>
                  <a:lnTo>
                    <a:pt x="0" y="1906906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1700" y="39243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9629" y="4062089"/>
              <a:ext cx="241425" cy="24160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969000" y="4592637"/>
            <a:ext cx="436181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High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Availability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Guaranteeing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continuous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service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operation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to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maximize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sales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opportunities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user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access.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787400"/>
            <a:ext cx="70535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Key</a:t>
            </a:r>
            <a:r>
              <a:rPr spc="-350" dirty="0"/>
              <a:t> </a:t>
            </a:r>
            <a:r>
              <a:rPr spc="-130" dirty="0"/>
              <a:t>Stakeholders</a:t>
            </a:r>
            <a:r>
              <a:rPr spc="-345" dirty="0"/>
              <a:t> </a:t>
            </a:r>
            <a:r>
              <a:rPr spc="-145" dirty="0"/>
              <a:t>in</a:t>
            </a:r>
            <a:r>
              <a:rPr spc="-345" dirty="0"/>
              <a:t> </a:t>
            </a:r>
            <a:r>
              <a:rPr spc="-130" dirty="0"/>
              <a:t>Our</a:t>
            </a:r>
            <a:r>
              <a:rPr spc="-345" dirty="0"/>
              <a:t> </a:t>
            </a:r>
            <a:r>
              <a:rPr spc="-20" dirty="0"/>
              <a:t>Ecosystem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701800"/>
            <a:ext cx="77152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Understanding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diverse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needs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those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interacting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system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crucial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robust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design.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57" y="2152686"/>
            <a:ext cx="400685" cy="447675"/>
            <a:chOff x="614057" y="2152686"/>
            <a:chExt cx="400685" cy="4476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057" y="2152686"/>
              <a:ext cx="400646" cy="4476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4742" y="2590723"/>
              <a:ext cx="300990" cy="635"/>
            </a:xfrm>
            <a:custGeom>
              <a:avLst/>
              <a:gdLst/>
              <a:ahLst/>
              <a:cxnLst/>
              <a:rect l="l" t="t" r="r" b="b"/>
              <a:pathLst>
                <a:path w="300990" h="635">
                  <a:moveTo>
                    <a:pt x="300979" y="76"/>
                  </a:moveTo>
                  <a:lnTo>
                    <a:pt x="0" y="0"/>
                  </a:lnTo>
                </a:path>
              </a:pathLst>
            </a:custGeom>
            <a:ln w="18976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7375" y="2782887"/>
            <a:ext cx="484632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Buyers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Seeking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fast,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reliable,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user-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friendly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experience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ticket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discovery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purchase.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4032" y="2162174"/>
            <a:ext cx="380365" cy="428625"/>
          </a:xfrm>
          <a:custGeom>
            <a:avLst/>
            <a:gdLst/>
            <a:ahLst/>
            <a:cxnLst/>
            <a:rect l="l" t="t" r="r" b="b"/>
            <a:pathLst>
              <a:path w="380364" h="428625">
                <a:moveTo>
                  <a:pt x="290969" y="296303"/>
                </a:moveTo>
                <a:lnTo>
                  <a:pt x="281635" y="256806"/>
                </a:lnTo>
                <a:lnTo>
                  <a:pt x="252006" y="224040"/>
                </a:lnTo>
                <a:lnTo>
                  <a:pt x="220370" y="211865"/>
                </a:lnTo>
                <a:lnTo>
                  <a:pt x="210959" y="209296"/>
                </a:lnTo>
              </a:path>
              <a:path w="380364" h="428625">
                <a:moveTo>
                  <a:pt x="202057" y="208940"/>
                </a:moveTo>
                <a:lnTo>
                  <a:pt x="160096" y="224243"/>
                </a:lnTo>
                <a:lnTo>
                  <a:pt x="131038" y="256540"/>
                </a:lnTo>
                <a:lnTo>
                  <a:pt x="122770" y="286232"/>
                </a:lnTo>
                <a:lnTo>
                  <a:pt x="122262" y="296252"/>
                </a:lnTo>
              </a:path>
              <a:path w="380364" h="428625">
                <a:moveTo>
                  <a:pt x="210959" y="209296"/>
                </a:moveTo>
                <a:lnTo>
                  <a:pt x="242544" y="185318"/>
                </a:lnTo>
                <a:lnTo>
                  <a:pt x="248158" y="164439"/>
                </a:lnTo>
                <a:lnTo>
                  <a:pt x="247777" y="158800"/>
                </a:lnTo>
                <a:lnTo>
                  <a:pt x="221411" y="124421"/>
                </a:lnTo>
                <a:lnTo>
                  <a:pt x="203822" y="121412"/>
                </a:lnTo>
                <a:lnTo>
                  <a:pt x="197891" y="122174"/>
                </a:lnTo>
                <a:lnTo>
                  <a:pt x="166649" y="149059"/>
                </a:lnTo>
                <a:lnTo>
                  <a:pt x="163639" y="164693"/>
                </a:lnTo>
                <a:lnTo>
                  <a:pt x="164134" y="168681"/>
                </a:lnTo>
              </a:path>
              <a:path w="380364" h="428625">
                <a:moveTo>
                  <a:pt x="31673" y="398373"/>
                </a:moveTo>
                <a:lnTo>
                  <a:pt x="59817" y="428561"/>
                </a:lnTo>
                <a:lnTo>
                  <a:pt x="71005" y="428586"/>
                </a:lnTo>
              </a:path>
              <a:path w="380364" h="428625">
                <a:moveTo>
                  <a:pt x="348145" y="428625"/>
                </a:moveTo>
                <a:lnTo>
                  <a:pt x="379501" y="404736"/>
                </a:lnTo>
                <a:lnTo>
                  <a:pt x="380060" y="394931"/>
                </a:lnTo>
                <a:lnTo>
                  <a:pt x="380098" y="386765"/>
                </a:lnTo>
              </a:path>
              <a:path w="380364" h="428625">
                <a:moveTo>
                  <a:pt x="379895" y="30988"/>
                </a:moveTo>
                <a:lnTo>
                  <a:pt x="355862" y="944"/>
                </a:lnTo>
                <a:lnTo>
                  <a:pt x="342886" y="76"/>
                </a:lnTo>
                <a:lnTo>
                  <a:pt x="331724" y="0"/>
                </a:lnTo>
              </a:path>
              <a:path w="380364" h="428625">
                <a:moveTo>
                  <a:pt x="63550" y="0"/>
                </a:moveTo>
                <a:lnTo>
                  <a:pt x="32207" y="23812"/>
                </a:lnTo>
                <a:lnTo>
                  <a:pt x="31686" y="29514"/>
                </a:lnTo>
                <a:lnTo>
                  <a:pt x="31635" y="41605"/>
                </a:lnTo>
              </a:path>
              <a:path w="380364" h="428625">
                <a:moveTo>
                  <a:pt x="31407" y="348488"/>
                </a:moveTo>
                <a:lnTo>
                  <a:pt x="31673" y="398373"/>
                </a:lnTo>
              </a:path>
              <a:path w="380364" h="428625">
                <a:moveTo>
                  <a:pt x="12" y="340652"/>
                </a:moveTo>
                <a:lnTo>
                  <a:pt x="60604" y="340842"/>
                </a:lnTo>
              </a:path>
              <a:path w="380364" h="428625">
                <a:moveTo>
                  <a:pt x="60502" y="255879"/>
                </a:moveTo>
                <a:lnTo>
                  <a:pt x="622" y="255841"/>
                </a:lnTo>
              </a:path>
              <a:path w="380364" h="428625">
                <a:moveTo>
                  <a:pt x="0" y="162229"/>
                </a:moveTo>
                <a:lnTo>
                  <a:pt x="60604" y="162318"/>
                </a:lnTo>
              </a:path>
              <a:path w="380364" h="428625">
                <a:moveTo>
                  <a:pt x="0" y="76771"/>
                </a:moveTo>
                <a:lnTo>
                  <a:pt x="61226" y="76898"/>
                </a:lnTo>
              </a:path>
              <a:path w="380364" h="428625">
                <a:moveTo>
                  <a:pt x="290969" y="296303"/>
                </a:moveTo>
                <a:lnTo>
                  <a:pt x="122262" y="296252"/>
                </a:lnTo>
              </a:path>
              <a:path w="380364" h="428625">
                <a:moveTo>
                  <a:pt x="163817" y="168732"/>
                </a:moveTo>
                <a:lnTo>
                  <a:pt x="164617" y="173583"/>
                </a:lnTo>
                <a:lnTo>
                  <a:pt x="166128" y="178206"/>
                </a:lnTo>
                <a:lnTo>
                  <a:pt x="168351" y="182600"/>
                </a:lnTo>
                <a:lnTo>
                  <a:pt x="170573" y="186994"/>
                </a:lnTo>
                <a:lnTo>
                  <a:pt x="188468" y="203276"/>
                </a:lnTo>
                <a:lnTo>
                  <a:pt x="192798" y="205613"/>
                </a:lnTo>
                <a:lnTo>
                  <a:pt x="197370" y="207251"/>
                </a:lnTo>
                <a:lnTo>
                  <a:pt x="202209" y="208191"/>
                </a:lnTo>
              </a:path>
              <a:path w="380364" h="428625">
                <a:moveTo>
                  <a:pt x="71005" y="428586"/>
                </a:moveTo>
                <a:lnTo>
                  <a:pt x="348145" y="428625"/>
                </a:lnTo>
              </a:path>
              <a:path w="380364" h="428625">
                <a:moveTo>
                  <a:pt x="380098" y="386765"/>
                </a:moveTo>
                <a:lnTo>
                  <a:pt x="379895" y="30988"/>
                </a:lnTo>
              </a:path>
              <a:path w="380364" h="428625">
                <a:moveTo>
                  <a:pt x="331724" y="0"/>
                </a:moveTo>
                <a:lnTo>
                  <a:pt x="63550" y="0"/>
                </a:lnTo>
              </a:path>
              <a:path w="380364" h="428625">
                <a:moveTo>
                  <a:pt x="31635" y="41605"/>
                </a:moveTo>
                <a:lnTo>
                  <a:pt x="31407" y="348488"/>
                </a:lnTo>
              </a:path>
            </a:pathLst>
          </a:custGeom>
          <a:ln w="18984">
            <a:solidFill>
              <a:srgbClr val="494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09462" y="2782887"/>
            <a:ext cx="486473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sz="1650" b="1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Organizers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Requiring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tools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event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creation,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inventory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management,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comprehensive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sales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reporting.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0581" y="4098842"/>
            <a:ext cx="447675" cy="365760"/>
            <a:chOff x="590581" y="4098842"/>
            <a:chExt cx="447675" cy="365760"/>
          </a:xfrm>
        </p:grpSpPr>
        <p:sp>
          <p:nvSpPr>
            <p:cNvPr id="11" name="object 11"/>
            <p:cNvSpPr/>
            <p:nvPr/>
          </p:nvSpPr>
          <p:spPr>
            <a:xfrm>
              <a:off x="600075" y="4229468"/>
              <a:ext cx="428625" cy="225425"/>
            </a:xfrm>
            <a:custGeom>
              <a:avLst/>
              <a:gdLst/>
              <a:ahLst/>
              <a:cxnLst/>
              <a:rect l="l" t="t" r="r" b="b"/>
              <a:pathLst>
                <a:path w="428625" h="225425">
                  <a:moveTo>
                    <a:pt x="392995" y="0"/>
                  </a:moveTo>
                  <a:lnTo>
                    <a:pt x="428183" y="14427"/>
                  </a:lnTo>
                  <a:lnTo>
                    <a:pt x="428585" y="17106"/>
                  </a:lnTo>
                </a:path>
                <a:path w="428625" h="225425">
                  <a:moveTo>
                    <a:pt x="428625" y="87528"/>
                  </a:moveTo>
                  <a:lnTo>
                    <a:pt x="413211" y="104406"/>
                  </a:lnTo>
                  <a:lnTo>
                    <a:pt x="400169" y="104584"/>
                  </a:lnTo>
                </a:path>
                <a:path w="428625" h="225425">
                  <a:moveTo>
                    <a:pt x="316165" y="104495"/>
                  </a:moveTo>
                  <a:lnTo>
                    <a:pt x="311819" y="104444"/>
                  </a:lnTo>
                </a:path>
                <a:path w="428625" h="225425">
                  <a:moveTo>
                    <a:pt x="331871" y="48412"/>
                  </a:moveTo>
                  <a:lnTo>
                    <a:pt x="318283" y="37757"/>
                  </a:lnTo>
                  <a:lnTo>
                    <a:pt x="313715" y="38125"/>
                  </a:lnTo>
                  <a:lnTo>
                    <a:pt x="302905" y="51409"/>
                  </a:lnTo>
                  <a:lnTo>
                    <a:pt x="303157" y="55587"/>
                  </a:lnTo>
                  <a:lnTo>
                    <a:pt x="304864" y="59944"/>
                  </a:lnTo>
                  <a:lnTo>
                    <a:pt x="308178" y="63957"/>
                  </a:lnTo>
                  <a:lnTo>
                    <a:pt x="312375" y="66509"/>
                  </a:lnTo>
                  <a:lnTo>
                    <a:pt x="316731" y="67487"/>
                  </a:lnTo>
                  <a:lnTo>
                    <a:pt x="318913" y="67462"/>
                  </a:lnTo>
                  <a:lnTo>
                    <a:pt x="333455" y="52108"/>
                  </a:lnTo>
                </a:path>
                <a:path w="428625" h="225425">
                  <a:moveTo>
                    <a:pt x="311819" y="104444"/>
                  </a:moveTo>
                  <a:lnTo>
                    <a:pt x="274939" y="91109"/>
                  </a:lnTo>
                  <a:lnTo>
                    <a:pt x="258712" y="53403"/>
                  </a:lnTo>
                  <a:lnTo>
                    <a:pt x="258960" y="47879"/>
                  </a:lnTo>
                  <a:lnTo>
                    <a:pt x="278223" y="11430"/>
                  </a:lnTo>
                  <a:lnTo>
                    <a:pt x="300548" y="1104"/>
                  </a:lnTo>
                  <a:lnTo>
                    <a:pt x="310400" y="50"/>
                  </a:lnTo>
                </a:path>
                <a:path w="428625" h="225425">
                  <a:moveTo>
                    <a:pt x="388833" y="180924"/>
                  </a:moveTo>
                  <a:lnTo>
                    <a:pt x="372377" y="216268"/>
                  </a:lnTo>
                  <a:lnTo>
                    <a:pt x="342850" y="225145"/>
                  </a:lnTo>
                  <a:lnTo>
                    <a:pt x="332016" y="225171"/>
                  </a:lnTo>
                </a:path>
                <a:path w="428625" h="225425">
                  <a:moveTo>
                    <a:pt x="43581" y="225056"/>
                  </a:moveTo>
                  <a:lnTo>
                    <a:pt x="7962" y="207289"/>
                  </a:lnTo>
                  <a:lnTo>
                    <a:pt x="99" y="183819"/>
                  </a:lnTo>
                  <a:lnTo>
                    <a:pt x="0" y="166509"/>
                  </a:lnTo>
                </a:path>
              </a:pathLst>
            </a:custGeom>
            <a:ln w="18987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606" y="4098867"/>
              <a:ext cx="74742" cy="645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45" y="4098842"/>
              <a:ext cx="63595" cy="739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0075" y="4108335"/>
              <a:ext cx="428625" cy="346710"/>
            </a:xfrm>
            <a:custGeom>
              <a:avLst/>
              <a:gdLst/>
              <a:ahLst/>
              <a:cxnLst/>
              <a:rect l="l" t="t" r="r" b="b"/>
              <a:pathLst>
                <a:path w="428625" h="346710">
                  <a:moveTo>
                    <a:pt x="388922" y="225717"/>
                  </a:moveTo>
                  <a:lnTo>
                    <a:pt x="388833" y="302056"/>
                  </a:lnTo>
                </a:path>
                <a:path w="428625" h="346710">
                  <a:moveTo>
                    <a:pt x="331871" y="169545"/>
                  </a:moveTo>
                  <a:lnTo>
                    <a:pt x="333455" y="173240"/>
                  </a:lnTo>
                </a:path>
                <a:path w="428625" h="346710">
                  <a:moveTo>
                    <a:pt x="344989" y="121094"/>
                  </a:moveTo>
                  <a:lnTo>
                    <a:pt x="392995" y="121132"/>
                  </a:lnTo>
                </a:path>
                <a:path w="428625" h="346710">
                  <a:moveTo>
                    <a:pt x="332016" y="346303"/>
                  </a:moveTo>
                  <a:lnTo>
                    <a:pt x="43581" y="346189"/>
                  </a:lnTo>
                </a:path>
                <a:path w="428625" h="346710">
                  <a:moveTo>
                    <a:pt x="428585" y="138239"/>
                  </a:moveTo>
                  <a:lnTo>
                    <a:pt x="428625" y="208661"/>
                  </a:lnTo>
                </a:path>
                <a:path w="428625" h="346710">
                  <a:moveTo>
                    <a:pt x="0" y="287642"/>
                  </a:moveTo>
                  <a:lnTo>
                    <a:pt x="25" y="45567"/>
                  </a:lnTo>
                </a:path>
                <a:path w="428625" h="346710">
                  <a:moveTo>
                    <a:pt x="400169" y="225717"/>
                  </a:moveTo>
                  <a:lnTo>
                    <a:pt x="316165" y="225628"/>
                  </a:lnTo>
                </a:path>
                <a:path w="428625" h="346710">
                  <a:moveTo>
                    <a:pt x="55780" y="25"/>
                  </a:moveTo>
                  <a:lnTo>
                    <a:pt x="344263" y="0"/>
                  </a:lnTo>
                </a:path>
                <a:path w="428625" h="346710">
                  <a:moveTo>
                    <a:pt x="310400" y="121183"/>
                  </a:moveTo>
                  <a:lnTo>
                    <a:pt x="344989" y="121094"/>
                  </a:lnTo>
                </a:path>
                <a:path w="428625" h="346710">
                  <a:moveTo>
                    <a:pt x="388872" y="54927"/>
                  </a:moveTo>
                  <a:lnTo>
                    <a:pt x="388898" y="121107"/>
                  </a:lnTo>
                </a:path>
              </a:pathLst>
            </a:custGeom>
            <a:ln w="18987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7375" y="4687887"/>
            <a:ext cx="439102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262424"/>
                </a:solidFill>
                <a:latin typeface="Tahoma"/>
                <a:cs typeface="Tahoma"/>
              </a:rPr>
              <a:t>Payments</a:t>
            </a:r>
            <a:r>
              <a:rPr sz="1650" b="1" spc="-1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280" dirty="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sz="1650" b="1" spc="-1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Finance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Needing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secure,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idempotent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transaction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processing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accurate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financial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reconciliation.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54453" y="4057582"/>
            <a:ext cx="359410" cy="438784"/>
            <a:chOff x="5854453" y="4057582"/>
            <a:chExt cx="359410" cy="438784"/>
          </a:xfrm>
        </p:grpSpPr>
        <p:sp>
          <p:nvSpPr>
            <p:cNvPr id="17" name="object 17"/>
            <p:cNvSpPr/>
            <p:nvPr/>
          </p:nvSpPr>
          <p:spPr>
            <a:xfrm>
              <a:off x="5936462" y="4265002"/>
              <a:ext cx="168910" cy="145415"/>
            </a:xfrm>
            <a:custGeom>
              <a:avLst/>
              <a:gdLst/>
              <a:ahLst/>
              <a:cxnLst/>
              <a:rect l="l" t="t" r="r" b="b"/>
              <a:pathLst>
                <a:path w="168910" h="145414">
                  <a:moveTo>
                    <a:pt x="168592" y="57264"/>
                  </a:moveTo>
                  <a:lnTo>
                    <a:pt x="129552" y="81318"/>
                  </a:lnTo>
                  <a:lnTo>
                    <a:pt x="99606" y="86918"/>
                  </a:lnTo>
                  <a:lnTo>
                    <a:pt x="93192" y="86868"/>
                  </a:lnTo>
                  <a:lnTo>
                    <a:pt x="49377" y="73690"/>
                  </a:lnTo>
                  <a:lnTo>
                    <a:pt x="16903" y="44577"/>
                  </a:lnTo>
                  <a:lnTo>
                    <a:pt x="482" y="3860"/>
                  </a:lnTo>
                  <a:lnTo>
                    <a:pt x="0" y="0"/>
                  </a:lnTo>
                </a:path>
                <a:path w="168910" h="145414">
                  <a:moveTo>
                    <a:pt x="149466" y="71488"/>
                  </a:moveTo>
                  <a:lnTo>
                    <a:pt x="146088" y="112090"/>
                  </a:lnTo>
                  <a:lnTo>
                    <a:pt x="116763" y="141579"/>
                  </a:lnTo>
                  <a:lnTo>
                    <a:pt x="98983" y="145199"/>
                  </a:lnTo>
                  <a:lnTo>
                    <a:pt x="92354" y="144780"/>
                  </a:lnTo>
                  <a:lnTo>
                    <a:pt x="55511" y="123939"/>
                  </a:lnTo>
                  <a:lnTo>
                    <a:pt x="45656" y="93065"/>
                  </a:lnTo>
                  <a:lnTo>
                    <a:pt x="45631" y="71945"/>
                  </a:lnTo>
                </a:path>
                <a:path w="168910" h="145414">
                  <a:moveTo>
                    <a:pt x="139966" y="57353"/>
                  </a:moveTo>
                  <a:lnTo>
                    <a:pt x="134188" y="50101"/>
                  </a:lnTo>
                  <a:lnTo>
                    <a:pt x="131216" y="47548"/>
                  </a:lnTo>
                  <a:lnTo>
                    <a:pt x="127050" y="45847"/>
                  </a:lnTo>
                  <a:lnTo>
                    <a:pt x="121742" y="45123"/>
                  </a:lnTo>
                  <a:lnTo>
                    <a:pt x="106972" y="45224"/>
                  </a:lnTo>
                  <a:lnTo>
                    <a:pt x="102082" y="46177"/>
                  </a:lnTo>
                  <a:lnTo>
                    <a:pt x="99034" y="47815"/>
                  </a:lnTo>
                  <a:lnTo>
                    <a:pt x="97383" y="49123"/>
                  </a:lnTo>
                  <a:lnTo>
                    <a:pt x="91744" y="55930"/>
                  </a:lnTo>
                </a:path>
                <a:path w="168910" h="145414">
                  <a:moveTo>
                    <a:pt x="139966" y="57353"/>
                  </a:moveTo>
                  <a:lnTo>
                    <a:pt x="132080" y="64465"/>
                  </a:lnTo>
                  <a:lnTo>
                    <a:pt x="128625" y="66535"/>
                  </a:lnTo>
                  <a:lnTo>
                    <a:pt x="126657" y="67271"/>
                  </a:lnTo>
                  <a:lnTo>
                    <a:pt x="121005" y="68008"/>
                  </a:lnTo>
                  <a:lnTo>
                    <a:pt x="108089" y="67970"/>
                  </a:lnTo>
                  <a:lnTo>
                    <a:pt x="104394" y="67589"/>
                  </a:lnTo>
                  <a:lnTo>
                    <a:pt x="102489" y="67056"/>
                  </a:lnTo>
                  <a:lnTo>
                    <a:pt x="98704" y="64998"/>
                  </a:lnTo>
                  <a:lnTo>
                    <a:pt x="95961" y="62268"/>
                  </a:lnTo>
                  <a:lnTo>
                    <a:pt x="91744" y="55930"/>
                  </a:lnTo>
                </a:path>
              </a:pathLst>
            </a:custGeom>
            <a:ln w="19212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2144" y="4181736"/>
              <a:ext cx="74292" cy="10505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864059" y="4067188"/>
              <a:ext cx="340360" cy="428625"/>
            </a:xfrm>
            <a:custGeom>
              <a:avLst/>
              <a:gdLst/>
              <a:ahLst/>
              <a:cxnLst/>
              <a:rect l="l" t="t" r="r" b="b"/>
              <a:pathLst>
                <a:path w="340360" h="428625">
                  <a:moveTo>
                    <a:pt x="39827" y="124700"/>
                  </a:moveTo>
                  <a:lnTo>
                    <a:pt x="17830" y="146684"/>
                  </a:lnTo>
                  <a:lnTo>
                    <a:pt x="17373" y="149224"/>
                  </a:lnTo>
                </a:path>
                <a:path w="340360" h="428625">
                  <a:moveTo>
                    <a:pt x="17348" y="183298"/>
                  </a:moveTo>
                  <a:lnTo>
                    <a:pt x="49663" y="208934"/>
                  </a:lnTo>
                  <a:lnTo>
                    <a:pt x="60392" y="209086"/>
                  </a:lnTo>
                  <a:lnTo>
                    <a:pt x="74510" y="209155"/>
                  </a:lnTo>
                </a:path>
                <a:path w="340360" h="428625">
                  <a:moveTo>
                    <a:pt x="296773" y="124154"/>
                  </a:moveTo>
                  <a:lnTo>
                    <a:pt x="288055" y="78502"/>
                  </a:lnTo>
                  <a:lnTo>
                    <a:pt x="263567" y="39497"/>
                  </a:lnTo>
                  <a:lnTo>
                    <a:pt x="225767" y="11910"/>
                  </a:lnTo>
                  <a:lnTo>
                    <a:pt x="183083" y="138"/>
                  </a:lnTo>
                  <a:lnTo>
                    <a:pt x="172041" y="0"/>
                  </a:lnTo>
                  <a:lnTo>
                    <a:pt x="161947" y="353"/>
                  </a:lnTo>
                  <a:lnTo>
                    <a:pt x="124244" y="8019"/>
                  </a:lnTo>
                  <a:lnTo>
                    <a:pt x="85068" y="30394"/>
                  </a:lnTo>
                  <a:lnTo>
                    <a:pt x="56565" y="65912"/>
                  </a:lnTo>
                  <a:lnTo>
                    <a:pt x="44234" y="107733"/>
                  </a:lnTo>
                  <a:lnTo>
                    <a:pt x="43802" y="115061"/>
                  </a:lnTo>
                  <a:lnTo>
                    <a:pt x="43510" y="124141"/>
                  </a:lnTo>
                </a:path>
                <a:path w="340360" h="428625">
                  <a:moveTo>
                    <a:pt x="72402" y="197814"/>
                  </a:moveTo>
                  <a:lnTo>
                    <a:pt x="72109" y="192254"/>
                  </a:lnTo>
                  <a:lnTo>
                    <a:pt x="71897" y="185785"/>
                  </a:lnTo>
                  <a:lnTo>
                    <a:pt x="71766" y="178409"/>
                  </a:lnTo>
                  <a:lnTo>
                    <a:pt x="71716" y="170128"/>
                  </a:lnTo>
                </a:path>
                <a:path w="340360" h="428625">
                  <a:moveTo>
                    <a:pt x="71780" y="133234"/>
                  </a:moveTo>
                  <a:lnTo>
                    <a:pt x="72419" y="126465"/>
                  </a:lnTo>
                  <a:lnTo>
                    <a:pt x="73453" y="119856"/>
                  </a:lnTo>
                  <a:lnTo>
                    <a:pt x="74845" y="113241"/>
                  </a:lnTo>
                  <a:lnTo>
                    <a:pt x="76555" y="106450"/>
                  </a:lnTo>
                  <a:lnTo>
                    <a:pt x="79209" y="99186"/>
                  </a:lnTo>
                </a:path>
                <a:path w="340360" h="428625">
                  <a:moveTo>
                    <a:pt x="25" y="378840"/>
                  </a:moveTo>
                  <a:lnTo>
                    <a:pt x="11188" y="341387"/>
                  </a:lnTo>
                  <a:lnTo>
                    <a:pt x="40982" y="321156"/>
                  </a:lnTo>
                  <a:lnTo>
                    <a:pt x="61315" y="315352"/>
                  </a:lnTo>
                </a:path>
                <a:path w="340360" h="428625">
                  <a:moveTo>
                    <a:pt x="294779" y="319835"/>
                  </a:moveTo>
                  <a:lnTo>
                    <a:pt x="329101" y="342705"/>
                  </a:lnTo>
                  <a:lnTo>
                    <a:pt x="339140" y="366228"/>
                  </a:lnTo>
                  <a:lnTo>
                    <a:pt x="339953" y="373061"/>
                  </a:lnTo>
                </a:path>
                <a:path w="340360" h="428625">
                  <a:moveTo>
                    <a:pt x="295541" y="209993"/>
                  </a:moveTo>
                  <a:lnTo>
                    <a:pt x="265074" y="209980"/>
                  </a:lnTo>
                </a:path>
                <a:path w="340360" h="428625">
                  <a:moveTo>
                    <a:pt x="294817" y="210857"/>
                  </a:moveTo>
                  <a:lnTo>
                    <a:pt x="295376" y="213536"/>
                  </a:lnTo>
                  <a:lnTo>
                    <a:pt x="295617" y="216254"/>
                  </a:lnTo>
                  <a:lnTo>
                    <a:pt x="295579" y="218997"/>
                  </a:lnTo>
                  <a:lnTo>
                    <a:pt x="287261" y="241667"/>
                  </a:lnTo>
                  <a:lnTo>
                    <a:pt x="285534" y="243788"/>
                  </a:lnTo>
                  <a:lnTo>
                    <a:pt x="283578" y="245705"/>
                  </a:lnTo>
                  <a:lnTo>
                    <a:pt x="281419" y="247395"/>
                  </a:lnTo>
                  <a:lnTo>
                    <a:pt x="279260" y="249084"/>
                  </a:lnTo>
                  <a:lnTo>
                    <a:pt x="276936" y="250519"/>
                  </a:lnTo>
                  <a:lnTo>
                    <a:pt x="274459" y="251687"/>
                  </a:lnTo>
                  <a:lnTo>
                    <a:pt x="271970" y="252868"/>
                  </a:lnTo>
                  <a:lnTo>
                    <a:pt x="269405" y="253745"/>
                  </a:lnTo>
                  <a:lnTo>
                    <a:pt x="266725" y="254354"/>
                  </a:lnTo>
                  <a:lnTo>
                    <a:pt x="264045" y="254951"/>
                  </a:lnTo>
                  <a:lnTo>
                    <a:pt x="261327" y="255243"/>
                  </a:lnTo>
                  <a:lnTo>
                    <a:pt x="258584" y="255243"/>
                  </a:lnTo>
                </a:path>
                <a:path w="340360" h="428625">
                  <a:moveTo>
                    <a:pt x="72351" y="124027"/>
                  </a:moveTo>
                  <a:lnTo>
                    <a:pt x="39827" y="124700"/>
                  </a:lnTo>
                </a:path>
                <a:path w="340360" h="428625">
                  <a:moveTo>
                    <a:pt x="0" y="428001"/>
                  </a:moveTo>
                  <a:lnTo>
                    <a:pt x="25" y="378840"/>
                  </a:lnTo>
                </a:path>
                <a:path w="340360" h="428625">
                  <a:moveTo>
                    <a:pt x="322770" y="182688"/>
                  </a:moveTo>
                  <a:lnTo>
                    <a:pt x="322719" y="149452"/>
                  </a:lnTo>
                </a:path>
                <a:path w="340360" h="428625">
                  <a:moveTo>
                    <a:pt x="221424" y="298842"/>
                  </a:moveTo>
                  <a:lnTo>
                    <a:pt x="294779" y="319835"/>
                  </a:lnTo>
                </a:path>
                <a:path w="340360" h="428625">
                  <a:moveTo>
                    <a:pt x="79362" y="99236"/>
                  </a:moveTo>
                  <a:lnTo>
                    <a:pt x="101434" y="65553"/>
                  </a:lnTo>
                  <a:lnTo>
                    <a:pt x="135207" y="43688"/>
                  </a:lnTo>
                  <a:lnTo>
                    <a:pt x="166849" y="37260"/>
                  </a:lnTo>
                  <a:lnTo>
                    <a:pt x="174929" y="37322"/>
                  </a:lnTo>
                  <a:lnTo>
                    <a:pt x="213893" y="47560"/>
                  </a:lnTo>
                  <a:lnTo>
                    <a:pt x="245392" y="72661"/>
                  </a:lnTo>
                  <a:lnTo>
                    <a:pt x="264048" y="108299"/>
                  </a:lnTo>
                  <a:lnTo>
                    <a:pt x="265909" y="116161"/>
                  </a:lnTo>
                  <a:lnTo>
                    <a:pt x="267119" y="124205"/>
                  </a:lnTo>
                </a:path>
                <a:path w="340360" h="428625">
                  <a:moveTo>
                    <a:pt x="17373" y="149224"/>
                  </a:moveTo>
                  <a:lnTo>
                    <a:pt x="17348" y="183298"/>
                  </a:lnTo>
                </a:path>
                <a:path w="340360" h="428625">
                  <a:moveTo>
                    <a:pt x="267690" y="124154"/>
                  </a:moveTo>
                  <a:lnTo>
                    <a:pt x="267970" y="194321"/>
                  </a:lnTo>
                </a:path>
                <a:path w="340360" h="428625">
                  <a:moveTo>
                    <a:pt x="268160" y="194347"/>
                  </a:moveTo>
                  <a:lnTo>
                    <a:pt x="264974" y="211117"/>
                  </a:lnTo>
                  <a:lnTo>
                    <a:pt x="259281" y="226736"/>
                  </a:lnTo>
                  <a:lnTo>
                    <a:pt x="251081" y="241201"/>
                  </a:lnTo>
                  <a:lnTo>
                    <a:pt x="240372" y="254507"/>
                  </a:lnTo>
                </a:path>
                <a:path w="340360" h="428625">
                  <a:moveTo>
                    <a:pt x="258584" y="255002"/>
                  </a:moveTo>
                  <a:lnTo>
                    <a:pt x="212369" y="255167"/>
                  </a:lnTo>
                </a:path>
                <a:path w="340360" h="428625">
                  <a:moveTo>
                    <a:pt x="71716" y="170128"/>
                  </a:moveTo>
                  <a:lnTo>
                    <a:pt x="71780" y="133234"/>
                  </a:lnTo>
                </a:path>
                <a:path w="340360" h="428625">
                  <a:moveTo>
                    <a:pt x="61315" y="315352"/>
                  </a:moveTo>
                  <a:lnTo>
                    <a:pt x="118364" y="299033"/>
                  </a:lnTo>
                </a:path>
                <a:path w="340360" h="428625">
                  <a:moveTo>
                    <a:pt x="339953" y="373061"/>
                  </a:moveTo>
                  <a:lnTo>
                    <a:pt x="340055" y="428611"/>
                  </a:lnTo>
                </a:path>
              </a:pathLst>
            </a:custGeom>
            <a:ln w="19212">
              <a:solidFill>
                <a:srgbClr val="494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09462" y="4687887"/>
            <a:ext cx="499808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262424"/>
                </a:solidFill>
                <a:latin typeface="Tahoma"/>
                <a:cs typeface="Tahoma"/>
              </a:rPr>
              <a:t>Customer</a:t>
            </a:r>
            <a:r>
              <a:rPr sz="1650" b="1" spc="-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Support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Access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booking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history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tools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efficient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issue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resolution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customer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assistance.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977900"/>
            <a:ext cx="796734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User</a:t>
            </a:r>
            <a:r>
              <a:rPr spc="-355" dirty="0"/>
              <a:t> </a:t>
            </a:r>
            <a:r>
              <a:rPr spc="-125" dirty="0"/>
              <a:t>Stories:</a:t>
            </a:r>
            <a:r>
              <a:rPr spc="-350" dirty="0"/>
              <a:t> </a:t>
            </a:r>
            <a:r>
              <a:rPr spc="225" dirty="0"/>
              <a:t>A</a:t>
            </a:r>
            <a:r>
              <a:rPr spc="-355" dirty="0"/>
              <a:t> </a:t>
            </a:r>
            <a:r>
              <a:rPr spc="-114" dirty="0"/>
              <a:t>Glimpse</a:t>
            </a:r>
            <a:r>
              <a:rPr spc="-350" dirty="0"/>
              <a:t> </a:t>
            </a:r>
            <a:r>
              <a:rPr spc="-175" dirty="0"/>
              <a:t>into</a:t>
            </a:r>
            <a:r>
              <a:rPr spc="-355" dirty="0"/>
              <a:t> </a:t>
            </a:r>
            <a:r>
              <a:rPr spc="-155" dirty="0"/>
              <a:t>Interactions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638175" y="3124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8175" y="37338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175" y="4343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175" y="4943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7375" y="1882775"/>
            <a:ext cx="5198745" cy="346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How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different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users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interact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system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achieve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their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goals.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70" dirty="0">
                <a:latin typeface="Tahoma"/>
                <a:cs typeface="Tahoma"/>
              </a:rPr>
              <a:t>Buyer</a:t>
            </a:r>
            <a:r>
              <a:rPr sz="2000" b="1" spc="-204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Perspective</a:t>
            </a:r>
            <a:endParaRPr sz="2000">
              <a:latin typeface="Tahoma"/>
              <a:cs typeface="Tahoma"/>
            </a:endParaRPr>
          </a:p>
          <a:p>
            <a:pPr marL="286385" marR="428625">
              <a:lnSpc>
                <a:spcPct val="134300"/>
              </a:lnSpc>
              <a:spcBef>
                <a:spcPts val="1140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buyer,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50" dirty="0">
                <a:solidFill>
                  <a:srgbClr val="262424"/>
                </a:solidFill>
                <a:latin typeface="Tahoma"/>
                <a:cs typeface="Tahoma"/>
              </a:rPr>
              <a:t>browse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424"/>
                </a:solidFill>
                <a:latin typeface="Tahoma"/>
                <a:cs typeface="Tahoma"/>
              </a:rPr>
              <a:t>events</a:t>
            </a:r>
            <a:r>
              <a:rPr sz="1350" b="1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find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what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interests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me.</a:t>
            </a:r>
            <a:endParaRPr sz="1350">
              <a:latin typeface="Verdana"/>
              <a:cs typeface="Verdana"/>
            </a:endParaRPr>
          </a:p>
          <a:p>
            <a:pPr marL="286385" marR="586740" indent="-635">
              <a:lnSpc>
                <a:spcPct val="129600"/>
              </a:lnSpc>
              <a:spcBef>
                <a:spcPts val="530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buyer,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30" dirty="0">
                <a:solidFill>
                  <a:srgbClr val="262424"/>
                </a:solidFill>
                <a:latin typeface="Tahoma"/>
                <a:cs typeface="Tahoma"/>
              </a:rPr>
              <a:t>select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262424"/>
                </a:solidFill>
                <a:latin typeface="Tahoma"/>
                <a:cs typeface="Tahoma"/>
              </a:rPr>
              <a:t>my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424"/>
                </a:solidFill>
                <a:latin typeface="Tahoma"/>
                <a:cs typeface="Tahoma"/>
              </a:rPr>
              <a:t>preferred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262424"/>
                </a:solidFill>
                <a:latin typeface="Tahoma"/>
                <a:cs typeface="Tahoma"/>
              </a:rPr>
              <a:t>seats</a:t>
            </a:r>
            <a:r>
              <a:rPr sz="135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from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interactive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map.</a:t>
            </a:r>
            <a:endParaRPr sz="1350">
              <a:latin typeface="Verdana"/>
              <a:cs typeface="Verdana"/>
            </a:endParaRPr>
          </a:p>
          <a:p>
            <a:pPr marL="286385" marR="1024890">
              <a:lnSpc>
                <a:spcPct val="129600"/>
              </a:lnSpc>
              <a:spcBef>
                <a:spcPts val="600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buyer,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40" dirty="0">
                <a:solidFill>
                  <a:srgbClr val="262424"/>
                </a:solidFill>
                <a:latin typeface="Tahoma"/>
                <a:cs typeface="Tahoma"/>
              </a:rPr>
              <a:t>reserve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30" dirty="0">
                <a:solidFill>
                  <a:srgbClr val="262424"/>
                </a:solidFill>
                <a:latin typeface="Tahoma"/>
                <a:cs typeface="Tahoma"/>
              </a:rPr>
              <a:t>seats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424"/>
                </a:solidFill>
                <a:latin typeface="Tahoma"/>
                <a:cs typeface="Tahoma"/>
              </a:rPr>
              <a:t>temporarily</a:t>
            </a:r>
            <a:r>
              <a:rPr sz="135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to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complete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my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purchase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without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losing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them.</a:t>
            </a:r>
            <a:endParaRPr sz="1350">
              <a:latin typeface="Verdana"/>
              <a:cs typeface="Verdana"/>
            </a:endParaRPr>
          </a:p>
          <a:p>
            <a:pPr marL="286385" marR="708660">
              <a:lnSpc>
                <a:spcPct val="134300"/>
              </a:lnSpc>
              <a:spcBef>
                <a:spcPts val="445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3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buyer,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30" dirty="0">
                <a:solidFill>
                  <a:srgbClr val="262424"/>
                </a:solidFill>
                <a:latin typeface="Tahoma"/>
                <a:cs typeface="Tahoma"/>
              </a:rPr>
              <a:t>pay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262424"/>
                </a:solidFill>
                <a:latin typeface="Tahoma"/>
                <a:cs typeface="Tahoma"/>
              </a:rPr>
              <a:t>securely</a:t>
            </a:r>
            <a:r>
              <a:rPr sz="1350" b="1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finalize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my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ticket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acquisition.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72175" y="3124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72175" y="37338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72175" y="4343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20930" y="2492375"/>
            <a:ext cx="4912995" cy="2240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80" dirty="0">
                <a:latin typeface="Tahoma"/>
                <a:cs typeface="Tahoma"/>
              </a:rPr>
              <a:t>Organizer</a:t>
            </a:r>
            <a:r>
              <a:rPr sz="2000" b="1" spc="-190" dirty="0">
                <a:latin typeface="Tahoma"/>
                <a:cs typeface="Tahoma"/>
              </a:rPr>
              <a:t> </a:t>
            </a:r>
            <a:r>
              <a:rPr sz="2000" b="1" spc="325" dirty="0">
                <a:latin typeface="Tahoma"/>
                <a:cs typeface="Tahoma"/>
              </a:rPr>
              <a:t>s</a:t>
            </a:r>
            <a:r>
              <a:rPr sz="2000" b="1" spc="-190" dirty="0">
                <a:latin typeface="Tahoma"/>
                <a:cs typeface="Tahoma"/>
              </a:rPr>
              <a:t> </a:t>
            </a:r>
            <a:r>
              <a:rPr sz="2000" b="1" spc="-70" dirty="0">
                <a:latin typeface="Tahoma"/>
                <a:cs typeface="Tahoma"/>
              </a:rPr>
              <a:t>Support</a:t>
            </a:r>
            <a:r>
              <a:rPr sz="2000" b="1" spc="-18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Perspective</a:t>
            </a:r>
            <a:endParaRPr sz="2000">
              <a:latin typeface="Tahoma"/>
              <a:cs typeface="Tahoma"/>
            </a:endParaRPr>
          </a:p>
          <a:p>
            <a:pPr marL="286385" marR="264160">
              <a:lnSpc>
                <a:spcPct val="134300"/>
              </a:lnSpc>
              <a:spcBef>
                <a:spcPts val="1145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organizer,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50" dirty="0">
                <a:solidFill>
                  <a:srgbClr val="262424"/>
                </a:solidFill>
                <a:latin typeface="Tahoma"/>
                <a:cs typeface="Tahoma"/>
              </a:rPr>
              <a:t>create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424"/>
                </a:solidFill>
                <a:latin typeface="Tahoma"/>
                <a:cs typeface="Tahoma"/>
              </a:rPr>
              <a:t>new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424"/>
                </a:solidFill>
                <a:latin typeface="Tahoma"/>
                <a:cs typeface="Tahoma"/>
              </a:rPr>
              <a:t>events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define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seating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configurations.</a:t>
            </a:r>
            <a:endParaRPr sz="1350">
              <a:latin typeface="Verdana"/>
              <a:cs typeface="Verdana"/>
            </a:endParaRPr>
          </a:p>
          <a:p>
            <a:pPr marL="286385" marR="309880">
              <a:lnSpc>
                <a:spcPct val="129600"/>
              </a:lnSpc>
              <a:spcBef>
                <a:spcPts val="525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an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organizer,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55" dirty="0">
                <a:solidFill>
                  <a:srgbClr val="262424"/>
                </a:solidFill>
                <a:latin typeface="Tahoma"/>
                <a:cs typeface="Tahoma"/>
              </a:rPr>
              <a:t>view</a:t>
            </a:r>
            <a:r>
              <a:rPr sz="13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262424"/>
                </a:solidFill>
                <a:latin typeface="Tahoma"/>
                <a:cs typeface="Tahoma"/>
              </a:rPr>
              <a:t>sales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262424"/>
                </a:solidFill>
                <a:latin typeface="Tahoma"/>
                <a:cs typeface="Tahoma"/>
              </a:rPr>
              <a:t>reports</a:t>
            </a:r>
            <a:r>
              <a:rPr sz="135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monitor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event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performance.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29600"/>
              </a:lnSpc>
              <a:spcBef>
                <a:spcPts val="600"/>
              </a:spcBef>
            </a:pP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support,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want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1" spc="-55" dirty="0">
                <a:solidFill>
                  <a:srgbClr val="262424"/>
                </a:solidFill>
                <a:latin typeface="Tahoma"/>
                <a:cs typeface="Tahoma"/>
              </a:rPr>
              <a:t>view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30" dirty="0">
                <a:solidFill>
                  <a:srgbClr val="262424"/>
                </a:solidFill>
                <a:latin typeface="Tahoma"/>
                <a:cs typeface="Tahoma"/>
              </a:rPr>
              <a:t>customer's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424"/>
                </a:solidFill>
                <a:latin typeface="Tahoma"/>
                <a:cs typeface="Tahoma"/>
              </a:rPr>
              <a:t>booking</a:t>
            </a:r>
            <a:r>
              <a:rPr sz="13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262424"/>
                </a:solidFill>
                <a:latin typeface="Tahoma"/>
                <a:cs typeface="Tahoma"/>
              </a:rPr>
              <a:t>history</a:t>
            </a:r>
            <a:r>
              <a:rPr sz="135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to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assist</a:t>
            </a:r>
            <a:r>
              <a:rPr sz="1350" spc="-13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inquiries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changes.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730250"/>
            <a:ext cx="74422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Critical</a:t>
            </a:r>
            <a:r>
              <a:rPr spc="-315" dirty="0"/>
              <a:t> </a:t>
            </a:r>
            <a:r>
              <a:rPr spc="-105" dirty="0"/>
              <a:t>Non-</a:t>
            </a:r>
            <a:r>
              <a:rPr spc="-150" dirty="0"/>
              <a:t>Functional</a:t>
            </a:r>
            <a:r>
              <a:rPr spc="-315" dirty="0"/>
              <a:t> </a:t>
            </a:r>
            <a:r>
              <a:rPr spc="-125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635125"/>
            <a:ext cx="61912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Defining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performance,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reliability,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consistency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standards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our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system.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025" y="2095499"/>
            <a:ext cx="3314700" cy="1571625"/>
            <a:chOff x="581025" y="2095499"/>
            <a:chExt cx="3314700" cy="1571625"/>
          </a:xfrm>
        </p:grpSpPr>
        <p:sp>
          <p:nvSpPr>
            <p:cNvPr id="5" name="object 5"/>
            <p:cNvSpPr/>
            <p:nvPr/>
          </p:nvSpPr>
          <p:spPr>
            <a:xfrm>
              <a:off x="600913" y="2095512"/>
              <a:ext cx="3295015" cy="1571625"/>
            </a:xfrm>
            <a:custGeom>
              <a:avLst/>
              <a:gdLst/>
              <a:ahLst/>
              <a:cxnLst/>
              <a:rect l="l" t="t" r="r" b="b"/>
              <a:pathLst>
                <a:path w="3295015" h="1571625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11617"/>
                  </a:lnTo>
                  <a:lnTo>
                    <a:pt x="3257448" y="1545818"/>
                  </a:lnTo>
                  <a:lnTo>
                    <a:pt x="323479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92" y="1510296"/>
                  </a:lnTo>
                  <a:lnTo>
                    <a:pt x="0" y="1506181"/>
                  </a:lnTo>
                  <a:lnTo>
                    <a:pt x="609" y="1510296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3242754" y="1571625"/>
                  </a:lnTo>
                  <a:lnTo>
                    <a:pt x="3250031" y="1570164"/>
                  </a:lnTo>
                  <a:lnTo>
                    <a:pt x="3250222" y="1570164"/>
                  </a:lnTo>
                  <a:lnTo>
                    <a:pt x="3265106" y="1564005"/>
                  </a:lnTo>
                  <a:lnTo>
                    <a:pt x="3271596" y="1559674"/>
                  </a:lnTo>
                  <a:lnTo>
                    <a:pt x="3277222" y="1554048"/>
                  </a:lnTo>
                  <a:lnTo>
                    <a:pt x="3277705" y="1553565"/>
                  </a:lnTo>
                  <a:lnTo>
                    <a:pt x="3282848" y="1548422"/>
                  </a:lnTo>
                  <a:lnTo>
                    <a:pt x="3287179" y="1541932"/>
                  </a:lnTo>
                  <a:lnTo>
                    <a:pt x="3293237" y="1527327"/>
                  </a:lnTo>
                  <a:lnTo>
                    <a:pt x="3294761" y="1519783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5" y="2095499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11617"/>
                  </a:lnTo>
                  <a:lnTo>
                    <a:pt x="0" y="1515554"/>
                  </a:lnTo>
                  <a:lnTo>
                    <a:pt x="14789" y="1551266"/>
                  </a:lnTo>
                  <a:lnTo>
                    <a:pt x="52163" y="1571244"/>
                  </a:lnTo>
                  <a:lnTo>
                    <a:pt x="56067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5025" y="2268537"/>
            <a:ext cx="255143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5" dirty="0">
                <a:solidFill>
                  <a:srgbClr val="262424"/>
                </a:solidFill>
                <a:latin typeface="Tahoma"/>
                <a:cs typeface="Tahoma"/>
              </a:rPr>
              <a:t>Rapid</a:t>
            </a:r>
            <a:r>
              <a:rPr sz="1650" b="1" spc="-1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Checkout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99th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percentile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checkout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time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of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less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than</a:t>
            </a:r>
            <a:r>
              <a:rPr sz="1350" spc="-12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2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seconds.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8125" y="2095499"/>
            <a:ext cx="3314700" cy="1571625"/>
            <a:chOff x="4048125" y="2095499"/>
            <a:chExt cx="3314700" cy="1571625"/>
          </a:xfrm>
        </p:grpSpPr>
        <p:sp>
          <p:nvSpPr>
            <p:cNvPr id="9" name="object 9"/>
            <p:cNvSpPr/>
            <p:nvPr/>
          </p:nvSpPr>
          <p:spPr>
            <a:xfrm>
              <a:off x="4068013" y="2095512"/>
              <a:ext cx="3295015" cy="1571625"/>
            </a:xfrm>
            <a:custGeom>
              <a:avLst/>
              <a:gdLst/>
              <a:ahLst/>
              <a:cxnLst/>
              <a:rect l="l" t="t" r="r" b="b"/>
              <a:pathLst>
                <a:path w="3295015" h="1571625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11617"/>
                  </a:lnTo>
                  <a:lnTo>
                    <a:pt x="3257448" y="1545818"/>
                  </a:lnTo>
                  <a:lnTo>
                    <a:pt x="323479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79" y="1510296"/>
                  </a:lnTo>
                  <a:lnTo>
                    <a:pt x="0" y="1506181"/>
                  </a:lnTo>
                  <a:lnTo>
                    <a:pt x="609" y="1510296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3242754" y="1571625"/>
                  </a:lnTo>
                  <a:lnTo>
                    <a:pt x="3250031" y="1570164"/>
                  </a:lnTo>
                  <a:lnTo>
                    <a:pt x="3250222" y="1570164"/>
                  </a:lnTo>
                  <a:lnTo>
                    <a:pt x="3265106" y="1564005"/>
                  </a:lnTo>
                  <a:lnTo>
                    <a:pt x="3271596" y="1559674"/>
                  </a:lnTo>
                  <a:lnTo>
                    <a:pt x="3277222" y="1554048"/>
                  </a:lnTo>
                  <a:lnTo>
                    <a:pt x="3277705" y="1553565"/>
                  </a:lnTo>
                  <a:lnTo>
                    <a:pt x="3282848" y="1548422"/>
                  </a:lnTo>
                  <a:lnTo>
                    <a:pt x="3287179" y="1541932"/>
                  </a:lnTo>
                  <a:lnTo>
                    <a:pt x="3293237" y="1527327"/>
                  </a:lnTo>
                  <a:lnTo>
                    <a:pt x="3294761" y="1519783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8125" y="2095499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11617"/>
                  </a:lnTo>
                  <a:lnTo>
                    <a:pt x="0" y="1515554"/>
                  </a:lnTo>
                  <a:lnTo>
                    <a:pt x="14782" y="1551266"/>
                  </a:lnTo>
                  <a:lnTo>
                    <a:pt x="52158" y="1571244"/>
                  </a:lnTo>
                  <a:lnTo>
                    <a:pt x="56070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02125" y="2268537"/>
            <a:ext cx="260858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High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Concurrency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Ability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gracefully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handle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over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200,000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concurrent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users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during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peak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event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launches.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15225" y="2095499"/>
            <a:ext cx="3314700" cy="1571625"/>
            <a:chOff x="7515225" y="2095499"/>
            <a:chExt cx="3314700" cy="1571625"/>
          </a:xfrm>
        </p:grpSpPr>
        <p:sp>
          <p:nvSpPr>
            <p:cNvPr id="13" name="object 13"/>
            <p:cNvSpPr/>
            <p:nvPr/>
          </p:nvSpPr>
          <p:spPr>
            <a:xfrm>
              <a:off x="7535113" y="2095512"/>
              <a:ext cx="3295015" cy="1571625"/>
            </a:xfrm>
            <a:custGeom>
              <a:avLst/>
              <a:gdLst/>
              <a:ahLst/>
              <a:cxnLst/>
              <a:rect l="l" t="t" r="r" b="b"/>
              <a:pathLst>
                <a:path w="3295015" h="1571625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11617"/>
                  </a:lnTo>
                  <a:lnTo>
                    <a:pt x="3257448" y="1545818"/>
                  </a:lnTo>
                  <a:lnTo>
                    <a:pt x="323479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79" y="1510296"/>
                  </a:lnTo>
                  <a:lnTo>
                    <a:pt x="0" y="1506181"/>
                  </a:lnTo>
                  <a:lnTo>
                    <a:pt x="609" y="1510296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3242754" y="1571625"/>
                  </a:lnTo>
                  <a:lnTo>
                    <a:pt x="3250031" y="1570164"/>
                  </a:lnTo>
                  <a:lnTo>
                    <a:pt x="3250222" y="1570164"/>
                  </a:lnTo>
                  <a:lnTo>
                    <a:pt x="3265106" y="1564005"/>
                  </a:lnTo>
                  <a:lnTo>
                    <a:pt x="3271596" y="1559674"/>
                  </a:lnTo>
                  <a:lnTo>
                    <a:pt x="3277222" y="1554048"/>
                  </a:lnTo>
                  <a:lnTo>
                    <a:pt x="3277705" y="1553565"/>
                  </a:lnTo>
                  <a:lnTo>
                    <a:pt x="3282848" y="1548422"/>
                  </a:lnTo>
                  <a:lnTo>
                    <a:pt x="3287179" y="1541932"/>
                  </a:lnTo>
                  <a:lnTo>
                    <a:pt x="3293237" y="1527327"/>
                  </a:lnTo>
                  <a:lnTo>
                    <a:pt x="3294761" y="1519783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15225" y="2095499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11617"/>
                  </a:lnTo>
                  <a:lnTo>
                    <a:pt x="0" y="1515554"/>
                  </a:lnTo>
                  <a:lnTo>
                    <a:pt x="14782" y="1551266"/>
                  </a:lnTo>
                  <a:lnTo>
                    <a:pt x="52158" y="1571244"/>
                  </a:lnTo>
                  <a:lnTo>
                    <a:pt x="56070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69225" y="2268537"/>
            <a:ext cx="283527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Exceptional</a:t>
            </a:r>
            <a:r>
              <a:rPr sz="1650" b="1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Uptime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Achieving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99.95%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system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uptime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to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ensure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continuous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service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availability.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" y="3838575"/>
            <a:ext cx="3314700" cy="1847850"/>
            <a:chOff x="581025" y="3838575"/>
            <a:chExt cx="3314700" cy="1847850"/>
          </a:xfrm>
        </p:grpSpPr>
        <p:sp>
          <p:nvSpPr>
            <p:cNvPr id="17" name="object 17"/>
            <p:cNvSpPr/>
            <p:nvPr/>
          </p:nvSpPr>
          <p:spPr>
            <a:xfrm>
              <a:off x="600913" y="3838587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63823" y="1816709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92" y="1786509"/>
                  </a:lnTo>
                  <a:lnTo>
                    <a:pt x="0" y="1782394"/>
                  </a:lnTo>
                  <a:lnTo>
                    <a:pt x="609" y="1786509"/>
                  </a:lnTo>
                  <a:lnTo>
                    <a:pt x="21475" y="1825523"/>
                  </a:lnTo>
                  <a:lnTo>
                    <a:pt x="60490" y="1846389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44" y="1846389"/>
                  </a:lnTo>
                  <a:lnTo>
                    <a:pt x="3250234" y="1846389"/>
                  </a:lnTo>
                  <a:lnTo>
                    <a:pt x="3265106" y="1840230"/>
                  </a:lnTo>
                  <a:lnTo>
                    <a:pt x="3271596" y="1835899"/>
                  </a:lnTo>
                  <a:lnTo>
                    <a:pt x="3277705" y="1829790"/>
                  </a:lnTo>
                  <a:lnTo>
                    <a:pt x="3282848" y="1824634"/>
                  </a:lnTo>
                  <a:lnTo>
                    <a:pt x="3287179" y="1818144"/>
                  </a:lnTo>
                  <a:lnTo>
                    <a:pt x="3293237" y="1803552"/>
                  </a:lnTo>
                  <a:lnTo>
                    <a:pt x="3294761" y="17960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1025" y="3838575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787843"/>
                  </a:lnTo>
                  <a:lnTo>
                    <a:pt x="0" y="1791782"/>
                  </a:lnTo>
                  <a:lnTo>
                    <a:pt x="14789" y="1827486"/>
                  </a:lnTo>
                  <a:lnTo>
                    <a:pt x="52163" y="1847463"/>
                  </a:lnTo>
                  <a:lnTo>
                    <a:pt x="56067" y="1847851"/>
                  </a:lnTo>
                  <a:lnTo>
                    <a:pt x="76200" y="18478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5025" y="4011612"/>
            <a:ext cx="2858135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Strong</a:t>
            </a:r>
            <a:r>
              <a:rPr sz="1650" b="1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262424"/>
                </a:solidFill>
                <a:latin typeface="Tahoma"/>
                <a:cs typeface="Tahoma"/>
              </a:rPr>
              <a:t>Seat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Consistency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Guaranteeing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strong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consistency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for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commit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operations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prevent overselling.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48125" y="3838575"/>
            <a:ext cx="3314700" cy="1847850"/>
            <a:chOff x="4048125" y="3838575"/>
            <a:chExt cx="3314700" cy="1847850"/>
          </a:xfrm>
        </p:grpSpPr>
        <p:sp>
          <p:nvSpPr>
            <p:cNvPr id="21" name="object 21"/>
            <p:cNvSpPr/>
            <p:nvPr/>
          </p:nvSpPr>
          <p:spPr>
            <a:xfrm>
              <a:off x="4068013" y="3838587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63823" y="1816709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79" y="1786509"/>
                  </a:lnTo>
                  <a:lnTo>
                    <a:pt x="0" y="1782406"/>
                  </a:lnTo>
                  <a:lnTo>
                    <a:pt x="609" y="1786509"/>
                  </a:lnTo>
                  <a:lnTo>
                    <a:pt x="21463" y="1825523"/>
                  </a:lnTo>
                  <a:lnTo>
                    <a:pt x="60490" y="1846389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44" y="1846389"/>
                  </a:lnTo>
                  <a:lnTo>
                    <a:pt x="3250234" y="1846389"/>
                  </a:lnTo>
                  <a:lnTo>
                    <a:pt x="3265106" y="1840230"/>
                  </a:lnTo>
                  <a:lnTo>
                    <a:pt x="3271596" y="1835899"/>
                  </a:lnTo>
                  <a:lnTo>
                    <a:pt x="3277705" y="1829790"/>
                  </a:lnTo>
                  <a:lnTo>
                    <a:pt x="3282848" y="1824634"/>
                  </a:lnTo>
                  <a:lnTo>
                    <a:pt x="3287179" y="1818144"/>
                  </a:lnTo>
                  <a:lnTo>
                    <a:pt x="3293237" y="1803552"/>
                  </a:lnTo>
                  <a:lnTo>
                    <a:pt x="3294761" y="17960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48125" y="3838575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787843"/>
                  </a:lnTo>
                  <a:lnTo>
                    <a:pt x="0" y="1791782"/>
                  </a:lnTo>
                  <a:lnTo>
                    <a:pt x="14782" y="1827486"/>
                  </a:lnTo>
                  <a:lnTo>
                    <a:pt x="52158" y="1847463"/>
                  </a:lnTo>
                  <a:lnTo>
                    <a:pt x="56070" y="1847851"/>
                  </a:lnTo>
                  <a:lnTo>
                    <a:pt x="76200" y="18478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02125" y="4011612"/>
            <a:ext cx="2362200" cy="1455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0" dirty="0">
                <a:solidFill>
                  <a:srgbClr val="262424"/>
                </a:solidFill>
                <a:latin typeface="Tahoma"/>
                <a:cs typeface="Tahoma"/>
              </a:rPr>
              <a:t>Idempotent</a:t>
            </a:r>
            <a:r>
              <a:rPr sz="1650" b="1" spc="-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Payments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Processing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payments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in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an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idempotent</a:t>
            </a:r>
            <a:r>
              <a:rPr sz="1350" spc="-13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manner</a:t>
            </a:r>
            <a:r>
              <a:rPr sz="135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3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avoid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duplicate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charges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incorrect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states.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72768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09638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90" dirty="0"/>
              <a:t>System</a:t>
            </a:r>
            <a:r>
              <a:rPr spc="-350" dirty="0"/>
              <a:t> </a:t>
            </a:r>
            <a:r>
              <a:rPr spc="-110" dirty="0"/>
              <a:t>Architecture </a:t>
            </a:r>
            <a:r>
              <a:rPr spc="-10" dirty="0"/>
              <a:t>Overview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1736089"/>
            <a:ext cx="535241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high-level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view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of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components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their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interactions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within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the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ticketing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system.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83893" y="4008121"/>
            <a:ext cx="5180965" cy="1315085"/>
            <a:chOff x="983893" y="4008121"/>
            <a:chExt cx="5180965" cy="1315085"/>
          </a:xfrm>
        </p:grpSpPr>
        <p:sp>
          <p:nvSpPr>
            <p:cNvPr id="8" name="object 8"/>
            <p:cNvSpPr/>
            <p:nvPr/>
          </p:nvSpPr>
          <p:spPr>
            <a:xfrm>
              <a:off x="2921774" y="4013479"/>
              <a:ext cx="1304290" cy="1304290"/>
            </a:xfrm>
            <a:custGeom>
              <a:avLst/>
              <a:gdLst/>
              <a:ahLst/>
              <a:cxnLst/>
              <a:rect l="l" t="t" r="r" b="b"/>
              <a:pathLst>
                <a:path w="1304289" h="1304289">
                  <a:moveTo>
                    <a:pt x="652030" y="0"/>
                  </a:moveTo>
                  <a:lnTo>
                    <a:pt x="604069" y="1762"/>
                  </a:lnTo>
                  <a:lnTo>
                    <a:pt x="556356" y="7059"/>
                  </a:lnTo>
                  <a:lnTo>
                    <a:pt x="509166" y="15849"/>
                  </a:lnTo>
                  <a:lnTo>
                    <a:pt x="462749" y="28079"/>
                  </a:lnTo>
                  <a:lnTo>
                    <a:pt x="417372" y="43690"/>
                  </a:lnTo>
                  <a:lnTo>
                    <a:pt x="373251" y="62604"/>
                  </a:lnTo>
                  <a:lnTo>
                    <a:pt x="330641" y="84707"/>
                  </a:lnTo>
                  <a:lnTo>
                    <a:pt x="289788" y="109893"/>
                  </a:lnTo>
                  <a:lnTo>
                    <a:pt x="250883" y="138001"/>
                  </a:lnTo>
                  <a:lnTo>
                    <a:pt x="214156" y="168906"/>
                  </a:lnTo>
                  <a:lnTo>
                    <a:pt x="179791" y="202433"/>
                  </a:lnTo>
                  <a:lnTo>
                    <a:pt x="148005" y="238391"/>
                  </a:lnTo>
                  <a:lnTo>
                    <a:pt x="118941" y="276583"/>
                  </a:lnTo>
                  <a:lnTo>
                    <a:pt x="92762" y="316822"/>
                  </a:lnTo>
                  <a:lnTo>
                    <a:pt x="69614" y="358874"/>
                  </a:lnTo>
                  <a:lnTo>
                    <a:pt x="49631" y="402513"/>
                  </a:lnTo>
                  <a:lnTo>
                    <a:pt x="32906" y="447490"/>
                  </a:lnTo>
                  <a:lnTo>
                    <a:pt x="19537" y="493602"/>
                  </a:lnTo>
                  <a:lnTo>
                    <a:pt x="9598" y="540563"/>
                  </a:lnTo>
                  <a:lnTo>
                    <a:pt x="3136" y="588124"/>
                  </a:lnTo>
                  <a:lnTo>
                    <a:pt x="195" y="636026"/>
                  </a:lnTo>
                  <a:lnTo>
                    <a:pt x="0" y="652030"/>
                  </a:lnTo>
                  <a:lnTo>
                    <a:pt x="195" y="668040"/>
                  </a:lnTo>
                  <a:lnTo>
                    <a:pt x="3136" y="715937"/>
                  </a:lnTo>
                  <a:lnTo>
                    <a:pt x="9598" y="763498"/>
                  </a:lnTo>
                  <a:lnTo>
                    <a:pt x="19537" y="810461"/>
                  </a:lnTo>
                  <a:lnTo>
                    <a:pt x="32906" y="856565"/>
                  </a:lnTo>
                  <a:lnTo>
                    <a:pt x="49631" y="901560"/>
                  </a:lnTo>
                  <a:lnTo>
                    <a:pt x="69614" y="945187"/>
                  </a:lnTo>
                  <a:lnTo>
                    <a:pt x="92762" y="987239"/>
                  </a:lnTo>
                  <a:lnTo>
                    <a:pt x="118941" y="1027479"/>
                  </a:lnTo>
                  <a:lnTo>
                    <a:pt x="148005" y="1065682"/>
                  </a:lnTo>
                  <a:lnTo>
                    <a:pt x="179791" y="1101627"/>
                  </a:lnTo>
                  <a:lnTo>
                    <a:pt x="214156" y="1135157"/>
                  </a:lnTo>
                  <a:lnTo>
                    <a:pt x="250883" y="1166059"/>
                  </a:lnTo>
                  <a:lnTo>
                    <a:pt x="289788" y="1194181"/>
                  </a:lnTo>
                  <a:lnTo>
                    <a:pt x="330641" y="1219353"/>
                  </a:lnTo>
                  <a:lnTo>
                    <a:pt x="373251" y="1241456"/>
                  </a:lnTo>
                  <a:lnTo>
                    <a:pt x="417372" y="1260376"/>
                  </a:lnTo>
                  <a:lnTo>
                    <a:pt x="462749" y="1275981"/>
                  </a:lnTo>
                  <a:lnTo>
                    <a:pt x="509166" y="1288222"/>
                  </a:lnTo>
                  <a:lnTo>
                    <a:pt x="556356" y="1297008"/>
                  </a:lnTo>
                  <a:lnTo>
                    <a:pt x="604069" y="1302298"/>
                  </a:lnTo>
                  <a:lnTo>
                    <a:pt x="652030" y="1304061"/>
                  </a:lnTo>
                  <a:lnTo>
                    <a:pt x="668040" y="1303865"/>
                  </a:lnTo>
                  <a:lnTo>
                    <a:pt x="715937" y="1300924"/>
                  </a:lnTo>
                  <a:lnTo>
                    <a:pt x="763496" y="1294468"/>
                  </a:lnTo>
                  <a:lnTo>
                    <a:pt x="810456" y="1284522"/>
                  </a:lnTo>
                  <a:lnTo>
                    <a:pt x="856559" y="1271149"/>
                  </a:lnTo>
                  <a:lnTo>
                    <a:pt x="901547" y="1254429"/>
                  </a:lnTo>
                  <a:lnTo>
                    <a:pt x="945186" y="1234441"/>
                  </a:lnTo>
                  <a:lnTo>
                    <a:pt x="987239" y="1211299"/>
                  </a:lnTo>
                  <a:lnTo>
                    <a:pt x="1027473" y="1185119"/>
                  </a:lnTo>
                  <a:lnTo>
                    <a:pt x="1065669" y="1156055"/>
                  </a:lnTo>
                  <a:lnTo>
                    <a:pt x="1101622" y="1124265"/>
                  </a:lnTo>
                  <a:lnTo>
                    <a:pt x="1135153" y="1089909"/>
                  </a:lnTo>
                  <a:lnTo>
                    <a:pt x="1166059" y="1053183"/>
                  </a:lnTo>
                  <a:lnTo>
                    <a:pt x="1194168" y="1014272"/>
                  </a:lnTo>
                  <a:lnTo>
                    <a:pt x="1219348" y="973419"/>
                  </a:lnTo>
                  <a:lnTo>
                    <a:pt x="1241455" y="930811"/>
                  </a:lnTo>
                  <a:lnTo>
                    <a:pt x="1260370" y="886693"/>
                  </a:lnTo>
                  <a:lnTo>
                    <a:pt x="1275981" y="841298"/>
                  </a:lnTo>
                  <a:lnTo>
                    <a:pt x="1288211" y="794898"/>
                  </a:lnTo>
                  <a:lnTo>
                    <a:pt x="1297001" y="747704"/>
                  </a:lnTo>
                  <a:lnTo>
                    <a:pt x="1302298" y="699992"/>
                  </a:lnTo>
                  <a:lnTo>
                    <a:pt x="1304061" y="652030"/>
                  </a:lnTo>
                  <a:lnTo>
                    <a:pt x="1303865" y="636026"/>
                  </a:lnTo>
                  <a:lnTo>
                    <a:pt x="1300924" y="588124"/>
                  </a:lnTo>
                  <a:lnTo>
                    <a:pt x="1294457" y="540563"/>
                  </a:lnTo>
                  <a:lnTo>
                    <a:pt x="1284516" y="493602"/>
                  </a:lnTo>
                  <a:lnTo>
                    <a:pt x="1271147" y="447490"/>
                  </a:lnTo>
                  <a:lnTo>
                    <a:pt x="1254429" y="402513"/>
                  </a:lnTo>
                  <a:lnTo>
                    <a:pt x="1234436" y="358874"/>
                  </a:lnTo>
                  <a:lnTo>
                    <a:pt x="1211295" y="316822"/>
                  </a:lnTo>
                  <a:lnTo>
                    <a:pt x="1185114" y="276583"/>
                  </a:lnTo>
                  <a:lnTo>
                    <a:pt x="1156055" y="238391"/>
                  </a:lnTo>
                  <a:lnTo>
                    <a:pt x="1124264" y="202433"/>
                  </a:lnTo>
                  <a:lnTo>
                    <a:pt x="1089902" y="168906"/>
                  </a:lnTo>
                  <a:lnTo>
                    <a:pt x="1053175" y="138001"/>
                  </a:lnTo>
                  <a:lnTo>
                    <a:pt x="1014272" y="109893"/>
                  </a:lnTo>
                  <a:lnTo>
                    <a:pt x="973419" y="84707"/>
                  </a:lnTo>
                  <a:lnTo>
                    <a:pt x="930810" y="62604"/>
                  </a:lnTo>
                  <a:lnTo>
                    <a:pt x="886686" y="43690"/>
                  </a:lnTo>
                  <a:lnTo>
                    <a:pt x="841298" y="28079"/>
                  </a:lnTo>
                  <a:lnTo>
                    <a:pt x="794893" y="15849"/>
                  </a:lnTo>
                  <a:lnTo>
                    <a:pt x="747699" y="7059"/>
                  </a:lnTo>
                  <a:lnTo>
                    <a:pt x="699992" y="1762"/>
                  </a:lnTo>
                  <a:lnTo>
                    <a:pt x="65203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21774" y="4013479"/>
              <a:ext cx="1304290" cy="1304290"/>
            </a:xfrm>
            <a:custGeom>
              <a:avLst/>
              <a:gdLst/>
              <a:ahLst/>
              <a:cxnLst/>
              <a:rect l="l" t="t" r="r" b="b"/>
              <a:pathLst>
                <a:path w="1304289" h="1304289">
                  <a:moveTo>
                    <a:pt x="1304061" y="652030"/>
                  </a:moveTo>
                  <a:lnTo>
                    <a:pt x="1302298" y="699992"/>
                  </a:lnTo>
                  <a:lnTo>
                    <a:pt x="1297001" y="747704"/>
                  </a:lnTo>
                  <a:lnTo>
                    <a:pt x="1288217" y="794898"/>
                  </a:lnTo>
                  <a:lnTo>
                    <a:pt x="1275981" y="841298"/>
                  </a:lnTo>
                  <a:lnTo>
                    <a:pt x="1260370" y="886693"/>
                  </a:lnTo>
                  <a:lnTo>
                    <a:pt x="1241455" y="930811"/>
                  </a:lnTo>
                  <a:lnTo>
                    <a:pt x="1219348" y="973419"/>
                  </a:lnTo>
                  <a:lnTo>
                    <a:pt x="1194168" y="1014285"/>
                  </a:lnTo>
                  <a:lnTo>
                    <a:pt x="1166059" y="1053177"/>
                  </a:lnTo>
                  <a:lnTo>
                    <a:pt x="1135153" y="1089907"/>
                  </a:lnTo>
                  <a:lnTo>
                    <a:pt x="1101622" y="1124265"/>
                  </a:lnTo>
                  <a:lnTo>
                    <a:pt x="1065669" y="1156055"/>
                  </a:lnTo>
                  <a:lnTo>
                    <a:pt x="1027473" y="1185119"/>
                  </a:lnTo>
                  <a:lnTo>
                    <a:pt x="987239" y="1211299"/>
                  </a:lnTo>
                  <a:lnTo>
                    <a:pt x="945186" y="1234441"/>
                  </a:lnTo>
                  <a:lnTo>
                    <a:pt x="901547" y="1254429"/>
                  </a:lnTo>
                  <a:lnTo>
                    <a:pt x="856559" y="1271149"/>
                  </a:lnTo>
                  <a:lnTo>
                    <a:pt x="810456" y="1284522"/>
                  </a:lnTo>
                  <a:lnTo>
                    <a:pt x="763498" y="1294468"/>
                  </a:lnTo>
                  <a:lnTo>
                    <a:pt x="715937" y="1300924"/>
                  </a:lnTo>
                  <a:lnTo>
                    <a:pt x="668040" y="1303865"/>
                  </a:lnTo>
                  <a:lnTo>
                    <a:pt x="652030" y="1304061"/>
                  </a:lnTo>
                  <a:lnTo>
                    <a:pt x="636021" y="1303865"/>
                  </a:lnTo>
                  <a:lnTo>
                    <a:pt x="588124" y="1300924"/>
                  </a:lnTo>
                  <a:lnTo>
                    <a:pt x="540563" y="1294468"/>
                  </a:lnTo>
                  <a:lnTo>
                    <a:pt x="493598" y="1284522"/>
                  </a:lnTo>
                  <a:lnTo>
                    <a:pt x="447490" y="1271149"/>
                  </a:lnTo>
                  <a:lnTo>
                    <a:pt x="402513" y="1254429"/>
                  </a:lnTo>
                  <a:lnTo>
                    <a:pt x="358874" y="1234441"/>
                  </a:lnTo>
                  <a:lnTo>
                    <a:pt x="316822" y="1211299"/>
                  </a:lnTo>
                  <a:lnTo>
                    <a:pt x="276582" y="1185119"/>
                  </a:lnTo>
                  <a:lnTo>
                    <a:pt x="238391" y="1156055"/>
                  </a:lnTo>
                  <a:lnTo>
                    <a:pt x="202433" y="1124265"/>
                  </a:lnTo>
                  <a:lnTo>
                    <a:pt x="168906" y="1089907"/>
                  </a:lnTo>
                  <a:lnTo>
                    <a:pt x="138001" y="1053177"/>
                  </a:lnTo>
                  <a:lnTo>
                    <a:pt x="109880" y="1014272"/>
                  </a:lnTo>
                  <a:lnTo>
                    <a:pt x="84707" y="973419"/>
                  </a:lnTo>
                  <a:lnTo>
                    <a:pt x="62599" y="930811"/>
                  </a:lnTo>
                  <a:lnTo>
                    <a:pt x="43690" y="886693"/>
                  </a:lnTo>
                  <a:lnTo>
                    <a:pt x="28079" y="841298"/>
                  </a:lnTo>
                  <a:lnTo>
                    <a:pt x="15838" y="794898"/>
                  </a:lnTo>
                  <a:lnTo>
                    <a:pt x="7058" y="747704"/>
                  </a:lnTo>
                  <a:lnTo>
                    <a:pt x="1762" y="699992"/>
                  </a:lnTo>
                  <a:lnTo>
                    <a:pt x="0" y="652030"/>
                  </a:lnTo>
                  <a:lnTo>
                    <a:pt x="195" y="636026"/>
                  </a:lnTo>
                  <a:lnTo>
                    <a:pt x="3136" y="588124"/>
                  </a:lnTo>
                  <a:lnTo>
                    <a:pt x="9603" y="540563"/>
                  </a:lnTo>
                  <a:lnTo>
                    <a:pt x="19540" y="493602"/>
                  </a:lnTo>
                  <a:lnTo>
                    <a:pt x="32913" y="447490"/>
                  </a:lnTo>
                  <a:lnTo>
                    <a:pt x="49631" y="402513"/>
                  </a:lnTo>
                  <a:lnTo>
                    <a:pt x="69614" y="358874"/>
                  </a:lnTo>
                  <a:lnTo>
                    <a:pt x="92762" y="316822"/>
                  </a:lnTo>
                  <a:lnTo>
                    <a:pt x="118941" y="276583"/>
                  </a:lnTo>
                  <a:lnTo>
                    <a:pt x="148005" y="238391"/>
                  </a:lnTo>
                  <a:lnTo>
                    <a:pt x="179791" y="202433"/>
                  </a:lnTo>
                  <a:lnTo>
                    <a:pt x="214156" y="168906"/>
                  </a:lnTo>
                  <a:lnTo>
                    <a:pt x="250883" y="138001"/>
                  </a:lnTo>
                  <a:lnTo>
                    <a:pt x="289788" y="109893"/>
                  </a:lnTo>
                  <a:lnTo>
                    <a:pt x="330641" y="84707"/>
                  </a:lnTo>
                  <a:lnTo>
                    <a:pt x="373251" y="62604"/>
                  </a:lnTo>
                  <a:lnTo>
                    <a:pt x="417372" y="43690"/>
                  </a:lnTo>
                  <a:lnTo>
                    <a:pt x="462749" y="28079"/>
                  </a:lnTo>
                  <a:lnTo>
                    <a:pt x="509166" y="15849"/>
                  </a:lnTo>
                  <a:lnTo>
                    <a:pt x="556356" y="7059"/>
                  </a:lnTo>
                  <a:lnTo>
                    <a:pt x="604069" y="1762"/>
                  </a:lnTo>
                  <a:lnTo>
                    <a:pt x="652030" y="0"/>
                  </a:lnTo>
                  <a:lnTo>
                    <a:pt x="668040" y="195"/>
                  </a:lnTo>
                  <a:lnTo>
                    <a:pt x="715937" y="3136"/>
                  </a:lnTo>
                  <a:lnTo>
                    <a:pt x="763498" y="9603"/>
                  </a:lnTo>
                  <a:lnTo>
                    <a:pt x="810456" y="19545"/>
                  </a:lnTo>
                  <a:lnTo>
                    <a:pt x="856559" y="32913"/>
                  </a:lnTo>
                  <a:lnTo>
                    <a:pt x="901547" y="49631"/>
                  </a:lnTo>
                  <a:lnTo>
                    <a:pt x="945186" y="69619"/>
                  </a:lnTo>
                  <a:lnTo>
                    <a:pt x="987239" y="92763"/>
                  </a:lnTo>
                  <a:lnTo>
                    <a:pt x="1027473" y="118946"/>
                  </a:lnTo>
                  <a:lnTo>
                    <a:pt x="1065669" y="148005"/>
                  </a:lnTo>
                  <a:lnTo>
                    <a:pt x="1101622" y="179791"/>
                  </a:lnTo>
                  <a:lnTo>
                    <a:pt x="1135153" y="214156"/>
                  </a:lnTo>
                  <a:lnTo>
                    <a:pt x="1166059" y="250889"/>
                  </a:lnTo>
                  <a:lnTo>
                    <a:pt x="1194168" y="289788"/>
                  </a:lnTo>
                  <a:lnTo>
                    <a:pt x="1219348" y="330641"/>
                  </a:lnTo>
                  <a:lnTo>
                    <a:pt x="1241455" y="373251"/>
                  </a:lnTo>
                  <a:lnTo>
                    <a:pt x="1260370" y="417372"/>
                  </a:lnTo>
                  <a:lnTo>
                    <a:pt x="1275981" y="462749"/>
                  </a:lnTo>
                  <a:lnTo>
                    <a:pt x="1288217" y="509168"/>
                  </a:lnTo>
                  <a:lnTo>
                    <a:pt x="1297001" y="556356"/>
                  </a:lnTo>
                  <a:lnTo>
                    <a:pt x="1302298" y="604071"/>
                  </a:lnTo>
                  <a:lnTo>
                    <a:pt x="1304061" y="65203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0321" y="4037050"/>
              <a:ext cx="1909445" cy="1257300"/>
            </a:xfrm>
            <a:custGeom>
              <a:avLst/>
              <a:gdLst/>
              <a:ahLst/>
              <a:cxnLst/>
              <a:rect l="l" t="t" r="r" b="b"/>
              <a:pathLst>
                <a:path w="1909445" h="1257300">
                  <a:moveTo>
                    <a:pt x="1783245" y="0"/>
                  </a:moveTo>
                  <a:lnTo>
                    <a:pt x="306362" y="0"/>
                  </a:lnTo>
                  <a:lnTo>
                    <a:pt x="257436" y="9877"/>
                  </a:lnTo>
                  <a:lnTo>
                    <a:pt x="217484" y="36814"/>
                  </a:lnTo>
                  <a:lnTo>
                    <a:pt x="190547" y="76766"/>
                  </a:lnTo>
                  <a:lnTo>
                    <a:pt x="180670" y="125691"/>
                  </a:lnTo>
                  <a:lnTo>
                    <a:pt x="180670" y="500265"/>
                  </a:lnTo>
                  <a:lnTo>
                    <a:pt x="0" y="623125"/>
                  </a:lnTo>
                  <a:lnTo>
                    <a:pt x="180670" y="761047"/>
                  </a:lnTo>
                  <a:lnTo>
                    <a:pt x="180670" y="1131227"/>
                  </a:lnTo>
                  <a:lnTo>
                    <a:pt x="190547" y="1180159"/>
                  </a:lnTo>
                  <a:lnTo>
                    <a:pt x="217484" y="1220116"/>
                  </a:lnTo>
                  <a:lnTo>
                    <a:pt x="257436" y="1247054"/>
                  </a:lnTo>
                  <a:lnTo>
                    <a:pt x="306362" y="1256931"/>
                  </a:lnTo>
                  <a:lnTo>
                    <a:pt x="1783245" y="1256931"/>
                  </a:lnTo>
                  <a:lnTo>
                    <a:pt x="1832170" y="1247054"/>
                  </a:lnTo>
                  <a:lnTo>
                    <a:pt x="1872122" y="1220116"/>
                  </a:lnTo>
                  <a:lnTo>
                    <a:pt x="1899059" y="1180159"/>
                  </a:lnTo>
                  <a:lnTo>
                    <a:pt x="1908937" y="1131227"/>
                  </a:lnTo>
                  <a:lnTo>
                    <a:pt x="1908937" y="125691"/>
                  </a:lnTo>
                  <a:lnTo>
                    <a:pt x="1899059" y="76766"/>
                  </a:lnTo>
                  <a:lnTo>
                    <a:pt x="1872122" y="36814"/>
                  </a:lnTo>
                  <a:lnTo>
                    <a:pt x="1832170" y="9877"/>
                  </a:lnTo>
                  <a:lnTo>
                    <a:pt x="1783245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0321" y="4037050"/>
              <a:ext cx="1909445" cy="1257300"/>
            </a:xfrm>
            <a:custGeom>
              <a:avLst/>
              <a:gdLst/>
              <a:ahLst/>
              <a:cxnLst/>
              <a:rect l="l" t="t" r="r" b="b"/>
              <a:pathLst>
                <a:path w="1909445" h="1257300">
                  <a:moveTo>
                    <a:pt x="306362" y="1256931"/>
                  </a:moveTo>
                  <a:lnTo>
                    <a:pt x="257436" y="1247054"/>
                  </a:lnTo>
                  <a:lnTo>
                    <a:pt x="217484" y="1220116"/>
                  </a:lnTo>
                  <a:lnTo>
                    <a:pt x="190547" y="1180159"/>
                  </a:lnTo>
                  <a:lnTo>
                    <a:pt x="180670" y="1131227"/>
                  </a:lnTo>
                  <a:lnTo>
                    <a:pt x="180670" y="761047"/>
                  </a:lnTo>
                  <a:lnTo>
                    <a:pt x="0" y="623125"/>
                  </a:lnTo>
                  <a:lnTo>
                    <a:pt x="180670" y="500265"/>
                  </a:lnTo>
                  <a:lnTo>
                    <a:pt x="180670" y="125691"/>
                  </a:lnTo>
                  <a:lnTo>
                    <a:pt x="190547" y="76766"/>
                  </a:lnTo>
                  <a:lnTo>
                    <a:pt x="217484" y="36814"/>
                  </a:lnTo>
                  <a:lnTo>
                    <a:pt x="257436" y="9877"/>
                  </a:lnTo>
                  <a:lnTo>
                    <a:pt x="306362" y="0"/>
                  </a:lnTo>
                  <a:lnTo>
                    <a:pt x="1783245" y="0"/>
                  </a:lnTo>
                  <a:lnTo>
                    <a:pt x="1832170" y="9877"/>
                  </a:lnTo>
                  <a:lnTo>
                    <a:pt x="1872122" y="36814"/>
                  </a:lnTo>
                  <a:lnTo>
                    <a:pt x="1899059" y="76766"/>
                  </a:lnTo>
                  <a:lnTo>
                    <a:pt x="1908937" y="125691"/>
                  </a:lnTo>
                  <a:lnTo>
                    <a:pt x="1908937" y="1131227"/>
                  </a:lnTo>
                  <a:lnTo>
                    <a:pt x="1899059" y="1180159"/>
                  </a:lnTo>
                  <a:lnTo>
                    <a:pt x="1872122" y="1220116"/>
                  </a:lnTo>
                  <a:lnTo>
                    <a:pt x="1832170" y="1247054"/>
                  </a:lnTo>
                  <a:lnTo>
                    <a:pt x="1783245" y="1256931"/>
                  </a:lnTo>
                  <a:lnTo>
                    <a:pt x="306362" y="1256931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9251" y="4037050"/>
              <a:ext cx="1909445" cy="1257300"/>
            </a:xfrm>
            <a:custGeom>
              <a:avLst/>
              <a:gdLst/>
              <a:ahLst/>
              <a:cxnLst/>
              <a:rect l="l" t="t" r="r" b="b"/>
              <a:pathLst>
                <a:path w="1909445" h="1257300">
                  <a:moveTo>
                    <a:pt x="1602577" y="0"/>
                  </a:moveTo>
                  <a:lnTo>
                    <a:pt x="125694" y="0"/>
                  </a:lnTo>
                  <a:lnTo>
                    <a:pt x="76766" y="9877"/>
                  </a:lnTo>
                  <a:lnTo>
                    <a:pt x="36813" y="36814"/>
                  </a:lnTo>
                  <a:lnTo>
                    <a:pt x="9877" y="76766"/>
                  </a:lnTo>
                  <a:lnTo>
                    <a:pt x="0" y="125691"/>
                  </a:lnTo>
                  <a:lnTo>
                    <a:pt x="0" y="1131227"/>
                  </a:lnTo>
                  <a:lnTo>
                    <a:pt x="9877" y="1180159"/>
                  </a:lnTo>
                  <a:lnTo>
                    <a:pt x="36813" y="1220116"/>
                  </a:lnTo>
                  <a:lnTo>
                    <a:pt x="76766" y="1247054"/>
                  </a:lnTo>
                  <a:lnTo>
                    <a:pt x="125694" y="1256931"/>
                  </a:lnTo>
                  <a:lnTo>
                    <a:pt x="1602577" y="1256931"/>
                  </a:lnTo>
                  <a:lnTo>
                    <a:pt x="1651507" y="1247054"/>
                  </a:lnTo>
                  <a:lnTo>
                    <a:pt x="1691460" y="1220116"/>
                  </a:lnTo>
                  <a:lnTo>
                    <a:pt x="1718393" y="1180159"/>
                  </a:lnTo>
                  <a:lnTo>
                    <a:pt x="1728269" y="1131227"/>
                  </a:lnTo>
                  <a:lnTo>
                    <a:pt x="1728269" y="761047"/>
                  </a:lnTo>
                  <a:lnTo>
                    <a:pt x="1908939" y="623125"/>
                  </a:lnTo>
                  <a:lnTo>
                    <a:pt x="1728269" y="500265"/>
                  </a:lnTo>
                  <a:lnTo>
                    <a:pt x="1728269" y="125691"/>
                  </a:lnTo>
                  <a:lnTo>
                    <a:pt x="1718393" y="76766"/>
                  </a:lnTo>
                  <a:lnTo>
                    <a:pt x="1691460" y="36814"/>
                  </a:lnTo>
                  <a:lnTo>
                    <a:pt x="1651507" y="9877"/>
                  </a:lnTo>
                  <a:lnTo>
                    <a:pt x="160257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9251" y="4037050"/>
              <a:ext cx="1909445" cy="1257300"/>
            </a:xfrm>
            <a:custGeom>
              <a:avLst/>
              <a:gdLst/>
              <a:ahLst/>
              <a:cxnLst/>
              <a:rect l="l" t="t" r="r" b="b"/>
              <a:pathLst>
                <a:path w="1909445" h="1257300">
                  <a:moveTo>
                    <a:pt x="1602577" y="1256931"/>
                  </a:moveTo>
                  <a:lnTo>
                    <a:pt x="1651507" y="1247054"/>
                  </a:lnTo>
                  <a:lnTo>
                    <a:pt x="1691460" y="1220116"/>
                  </a:lnTo>
                  <a:lnTo>
                    <a:pt x="1718393" y="1180159"/>
                  </a:lnTo>
                  <a:lnTo>
                    <a:pt x="1728269" y="1131227"/>
                  </a:lnTo>
                  <a:lnTo>
                    <a:pt x="1728269" y="761047"/>
                  </a:lnTo>
                  <a:lnTo>
                    <a:pt x="1908939" y="623125"/>
                  </a:lnTo>
                  <a:lnTo>
                    <a:pt x="1728269" y="500265"/>
                  </a:lnTo>
                  <a:lnTo>
                    <a:pt x="1728269" y="125691"/>
                  </a:lnTo>
                  <a:lnTo>
                    <a:pt x="1718393" y="76766"/>
                  </a:lnTo>
                  <a:lnTo>
                    <a:pt x="1691460" y="36814"/>
                  </a:lnTo>
                  <a:lnTo>
                    <a:pt x="1651507" y="9877"/>
                  </a:lnTo>
                  <a:lnTo>
                    <a:pt x="1602577" y="0"/>
                  </a:lnTo>
                  <a:lnTo>
                    <a:pt x="125694" y="0"/>
                  </a:lnTo>
                  <a:lnTo>
                    <a:pt x="76766" y="9877"/>
                  </a:lnTo>
                  <a:lnTo>
                    <a:pt x="36813" y="36814"/>
                  </a:lnTo>
                  <a:lnTo>
                    <a:pt x="9877" y="76766"/>
                  </a:lnTo>
                  <a:lnTo>
                    <a:pt x="0" y="125691"/>
                  </a:lnTo>
                  <a:lnTo>
                    <a:pt x="0" y="1131227"/>
                  </a:lnTo>
                  <a:lnTo>
                    <a:pt x="9877" y="1180159"/>
                  </a:lnTo>
                  <a:lnTo>
                    <a:pt x="36813" y="1220116"/>
                  </a:lnTo>
                  <a:lnTo>
                    <a:pt x="76766" y="1247054"/>
                  </a:lnTo>
                  <a:lnTo>
                    <a:pt x="125694" y="1256931"/>
                  </a:lnTo>
                  <a:lnTo>
                    <a:pt x="1602577" y="1256931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788474" y="2641220"/>
            <a:ext cx="1845310" cy="1268095"/>
            <a:chOff x="3788474" y="2641220"/>
            <a:chExt cx="1845310" cy="1268095"/>
          </a:xfrm>
        </p:grpSpPr>
        <p:sp>
          <p:nvSpPr>
            <p:cNvPr id="15" name="object 15"/>
            <p:cNvSpPr/>
            <p:nvPr/>
          </p:nvSpPr>
          <p:spPr>
            <a:xfrm>
              <a:off x="3793832" y="2646578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1708632" y="0"/>
                  </a:moveTo>
                  <a:lnTo>
                    <a:pt x="231749" y="0"/>
                  </a:lnTo>
                  <a:lnTo>
                    <a:pt x="182817" y="9877"/>
                  </a:lnTo>
                  <a:lnTo>
                    <a:pt x="142860" y="36814"/>
                  </a:lnTo>
                  <a:lnTo>
                    <a:pt x="115922" y="76766"/>
                  </a:lnTo>
                  <a:lnTo>
                    <a:pt x="106045" y="125691"/>
                  </a:lnTo>
                  <a:lnTo>
                    <a:pt x="106045" y="1123327"/>
                  </a:lnTo>
                  <a:lnTo>
                    <a:pt x="0" y="1256919"/>
                  </a:lnTo>
                  <a:lnTo>
                    <a:pt x="216027" y="1256919"/>
                  </a:lnTo>
                  <a:lnTo>
                    <a:pt x="216027" y="1255953"/>
                  </a:lnTo>
                  <a:lnTo>
                    <a:pt x="221183" y="1256588"/>
                  </a:lnTo>
                  <a:lnTo>
                    <a:pt x="226415" y="1256919"/>
                  </a:lnTo>
                  <a:lnTo>
                    <a:pt x="231749" y="1256919"/>
                  </a:lnTo>
                  <a:lnTo>
                    <a:pt x="1708632" y="1256919"/>
                  </a:lnTo>
                  <a:lnTo>
                    <a:pt x="1757552" y="1247041"/>
                  </a:lnTo>
                  <a:lnTo>
                    <a:pt x="1797505" y="1220104"/>
                  </a:lnTo>
                  <a:lnTo>
                    <a:pt x="1824445" y="1180152"/>
                  </a:lnTo>
                  <a:lnTo>
                    <a:pt x="1834324" y="1131227"/>
                  </a:lnTo>
                  <a:lnTo>
                    <a:pt x="1834324" y="125691"/>
                  </a:lnTo>
                  <a:lnTo>
                    <a:pt x="1824445" y="76766"/>
                  </a:lnTo>
                  <a:lnTo>
                    <a:pt x="1797505" y="36814"/>
                  </a:lnTo>
                  <a:lnTo>
                    <a:pt x="1757552" y="9877"/>
                  </a:lnTo>
                  <a:lnTo>
                    <a:pt x="170863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3832" y="2646578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231749" y="1256919"/>
                  </a:moveTo>
                  <a:lnTo>
                    <a:pt x="226415" y="1256919"/>
                  </a:lnTo>
                  <a:lnTo>
                    <a:pt x="221183" y="1256588"/>
                  </a:lnTo>
                  <a:lnTo>
                    <a:pt x="216027" y="1255953"/>
                  </a:lnTo>
                  <a:lnTo>
                    <a:pt x="216027" y="1256919"/>
                  </a:lnTo>
                  <a:lnTo>
                    <a:pt x="0" y="1256919"/>
                  </a:lnTo>
                  <a:lnTo>
                    <a:pt x="106045" y="1123327"/>
                  </a:lnTo>
                  <a:lnTo>
                    <a:pt x="106045" y="125691"/>
                  </a:lnTo>
                  <a:lnTo>
                    <a:pt x="115922" y="76766"/>
                  </a:lnTo>
                  <a:lnTo>
                    <a:pt x="142860" y="36814"/>
                  </a:lnTo>
                  <a:lnTo>
                    <a:pt x="182817" y="9877"/>
                  </a:lnTo>
                  <a:lnTo>
                    <a:pt x="231749" y="0"/>
                  </a:lnTo>
                  <a:lnTo>
                    <a:pt x="1708632" y="0"/>
                  </a:lnTo>
                  <a:lnTo>
                    <a:pt x="1757552" y="9877"/>
                  </a:lnTo>
                  <a:lnTo>
                    <a:pt x="1797505" y="36814"/>
                  </a:lnTo>
                  <a:lnTo>
                    <a:pt x="1824445" y="76766"/>
                  </a:lnTo>
                  <a:lnTo>
                    <a:pt x="1834324" y="125691"/>
                  </a:lnTo>
                  <a:lnTo>
                    <a:pt x="1834324" y="1131227"/>
                  </a:lnTo>
                  <a:lnTo>
                    <a:pt x="1824445" y="1180152"/>
                  </a:lnTo>
                  <a:lnTo>
                    <a:pt x="1797505" y="1220104"/>
                  </a:lnTo>
                  <a:lnTo>
                    <a:pt x="1757552" y="1247041"/>
                  </a:lnTo>
                  <a:lnTo>
                    <a:pt x="1708632" y="1256919"/>
                  </a:lnTo>
                  <a:lnTo>
                    <a:pt x="231749" y="1256919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502436" y="2641220"/>
            <a:ext cx="1845310" cy="1268095"/>
            <a:chOff x="1502436" y="2641220"/>
            <a:chExt cx="1845310" cy="1268095"/>
          </a:xfrm>
        </p:grpSpPr>
        <p:sp>
          <p:nvSpPr>
            <p:cNvPr id="18" name="object 18"/>
            <p:cNvSpPr/>
            <p:nvPr/>
          </p:nvSpPr>
          <p:spPr>
            <a:xfrm>
              <a:off x="1507794" y="2646578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1602574" y="0"/>
                  </a:moveTo>
                  <a:lnTo>
                    <a:pt x="125691" y="0"/>
                  </a:lnTo>
                  <a:lnTo>
                    <a:pt x="76766" y="9877"/>
                  </a:lnTo>
                  <a:lnTo>
                    <a:pt x="36814" y="36814"/>
                  </a:lnTo>
                  <a:lnTo>
                    <a:pt x="9877" y="76766"/>
                  </a:lnTo>
                  <a:lnTo>
                    <a:pt x="0" y="125691"/>
                  </a:lnTo>
                  <a:lnTo>
                    <a:pt x="0" y="1131227"/>
                  </a:lnTo>
                  <a:lnTo>
                    <a:pt x="9877" y="1180152"/>
                  </a:lnTo>
                  <a:lnTo>
                    <a:pt x="36814" y="1220104"/>
                  </a:lnTo>
                  <a:lnTo>
                    <a:pt x="76766" y="1247041"/>
                  </a:lnTo>
                  <a:lnTo>
                    <a:pt x="125691" y="1256919"/>
                  </a:lnTo>
                  <a:lnTo>
                    <a:pt x="1602574" y="1256919"/>
                  </a:lnTo>
                  <a:lnTo>
                    <a:pt x="1607896" y="1256919"/>
                  </a:lnTo>
                  <a:lnTo>
                    <a:pt x="1613141" y="1256588"/>
                  </a:lnTo>
                  <a:lnTo>
                    <a:pt x="1618297" y="1255953"/>
                  </a:lnTo>
                  <a:lnTo>
                    <a:pt x="1618297" y="1256919"/>
                  </a:lnTo>
                  <a:lnTo>
                    <a:pt x="1834324" y="1256919"/>
                  </a:lnTo>
                  <a:lnTo>
                    <a:pt x="1728279" y="1123327"/>
                  </a:lnTo>
                  <a:lnTo>
                    <a:pt x="1728279" y="125691"/>
                  </a:lnTo>
                  <a:lnTo>
                    <a:pt x="1718400" y="76766"/>
                  </a:lnTo>
                  <a:lnTo>
                    <a:pt x="1691459" y="36814"/>
                  </a:lnTo>
                  <a:lnTo>
                    <a:pt x="1651502" y="9877"/>
                  </a:lnTo>
                  <a:lnTo>
                    <a:pt x="160257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07794" y="2646578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1602574" y="1256919"/>
                  </a:moveTo>
                  <a:lnTo>
                    <a:pt x="1607896" y="1256919"/>
                  </a:lnTo>
                  <a:lnTo>
                    <a:pt x="1613141" y="1256588"/>
                  </a:lnTo>
                  <a:lnTo>
                    <a:pt x="1618284" y="1255953"/>
                  </a:lnTo>
                  <a:lnTo>
                    <a:pt x="1618284" y="1256919"/>
                  </a:lnTo>
                  <a:lnTo>
                    <a:pt x="1834324" y="1256919"/>
                  </a:lnTo>
                  <a:lnTo>
                    <a:pt x="1728279" y="1123327"/>
                  </a:lnTo>
                  <a:lnTo>
                    <a:pt x="1728279" y="125691"/>
                  </a:lnTo>
                  <a:lnTo>
                    <a:pt x="1718400" y="76766"/>
                  </a:lnTo>
                  <a:lnTo>
                    <a:pt x="1691459" y="36814"/>
                  </a:lnTo>
                  <a:lnTo>
                    <a:pt x="1651502" y="9877"/>
                  </a:lnTo>
                  <a:lnTo>
                    <a:pt x="1602574" y="0"/>
                  </a:lnTo>
                  <a:lnTo>
                    <a:pt x="125691" y="0"/>
                  </a:lnTo>
                  <a:lnTo>
                    <a:pt x="76766" y="9877"/>
                  </a:lnTo>
                  <a:lnTo>
                    <a:pt x="36814" y="36814"/>
                  </a:lnTo>
                  <a:lnTo>
                    <a:pt x="9877" y="76766"/>
                  </a:lnTo>
                  <a:lnTo>
                    <a:pt x="0" y="125691"/>
                  </a:lnTo>
                  <a:lnTo>
                    <a:pt x="0" y="1131227"/>
                  </a:lnTo>
                  <a:lnTo>
                    <a:pt x="9877" y="1180152"/>
                  </a:lnTo>
                  <a:lnTo>
                    <a:pt x="36814" y="1220104"/>
                  </a:lnTo>
                  <a:lnTo>
                    <a:pt x="76766" y="1247041"/>
                  </a:lnTo>
                  <a:lnTo>
                    <a:pt x="125691" y="1256919"/>
                  </a:lnTo>
                  <a:lnTo>
                    <a:pt x="1602574" y="1256919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502436" y="5445736"/>
            <a:ext cx="1845310" cy="1268095"/>
            <a:chOff x="1502436" y="5445736"/>
            <a:chExt cx="1845310" cy="1268095"/>
          </a:xfrm>
        </p:grpSpPr>
        <p:sp>
          <p:nvSpPr>
            <p:cNvPr id="21" name="object 21"/>
            <p:cNvSpPr/>
            <p:nvPr/>
          </p:nvSpPr>
          <p:spPr>
            <a:xfrm>
              <a:off x="1507794" y="5451094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1834324" y="0"/>
                  </a:moveTo>
                  <a:lnTo>
                    <a:pt x="1618297" y="0"/>
                  </a:lnTo>
                  <a:lnTo>
                    <a:pt x="1618297" y="977"/>
                  </a:lnTo>
                  <a:lnTo>
                    <a:pt x="1613141" y="330"/>
                  </a:lnTo>
                  <a:lnTo>
                    <a:pt x="1607896" y="0"/>
                  </a:lnTo>
                  <a:lnTo>
                    <a:pt x="1602574" y="0"/>
                  </a:lnTo>
                  <a:lnTo>
                    <a:pt x="125691" y="0"/>
                  </a:lnTo>
                  <a:lnTo>
                    <a:pt x="76766" y="9875"/>
                  </a:lnTo>
                  <a:lnTo>
                    <a:pt x="36814" y="36809"/>
                  </a:lnTo>
                  <a:lnTo>
                    <a:pt x="9877" y="76761"/>
                  </a:lnTo>
                  <a:lnTo>
                    <a:pt x="0" y="125691"/>
                  </a:lnTo>
                  <a:lnTo>
                    <a:pt x="0" y="1131227"/>
                  </a:lnTo>
                  <a:lnTo>
                    <a:pt x="9877" y="1180155"/>
                  </a:lnTo>
                  <a:lnTo>
                    <a:pt x="36814" y="1220109"/>
                  </a:lnTo>
                  <a:lnTo>
                    <a:pt x="76766" y="1247045"/>
                  </a:lnTo>
                  <a:lnTo>
                    <a:pt x="125691" y="1256922"/>
                  </a:lnTo>
                  <a:lnTo>
                    <a:pt x="1602574" y="1256922"/>
                  </a:lnTo>
                  <a:lnTo>
                    <a:pt x="1651502" y="1247045"/>
                  </a:lnTo>
                  <a:lnTo>
                    <a:pt x="1691459" y="1220109"/>
                  </a:lnTo>
                  <a:lnTo>
                    <a:pt x="1718400" y="1180155"/>
                  </a:lnTo>
                  <a:lnTo>
                    <a:pt x="1728279" y="1131227"/>
                  </a:lnTo>
                  <a:lnTo>
                    <a:pt x="1728279" y="133578"/>
                  </a:lnTo>
                  <a:lnTo>
                    <a:pt x="1834324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07794" y="5451094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1602574" y="0"/>
                  </a:moveTo>
                  <a:lnTo>
                    <a:pt x="1607896" y="0"/>
                  </a:lnTo>
                  <a:lnTo>
                    <a:pt x="1613141" y="330"/>
                  </a:lnTo>
                  <a:lnTo>
                    <a:pt x="1618284" y="977"/>
                  </a:lnTo>
                  <a:lnTo>
                    <a:pt x="1618284" y="0"/>
                  </a:lnTo>
                  <a:lnTo>
                    <a:pt x="1834324" y="0"/>
                  </a:lnTo>
                  <a:lnTo>
                    <a:pt x="1728279" y="133578"/>
                  </a:lnTo>
                  <a:lnTo>
                    <a:pt x="1728279" y="1131227"/>
                  </a:lnTo>
                  <a:lnTo>
                    <a:pt x="1718400" y="1180155"/>
                  </a:lnTo>
                  <a:lnTo>
                    <a:pt x="1691459" y="1220109"/>
                  </a:lnTo>
                  <a:lnTo>
                    <a:pt x="1651502" y="1247045"/>
                  </a:lnTo>
                  <a:lnTo>
                    <a:pt x="1602574" y="1256922"/>
                  </a:lnTo>
                  <a:lnTo>
                    <a:pt x="125691" y="1256922"/>
                  </a:lnTo>
                  <a:lnTo>
                    <a:pt x="76766" y="1247045"/>
                  </a:lnTo>
                  <a:lnTo>
                    <a:pt x="36814" y="1220109"/>
                  </a:lnTo>
                  <a:lnTo>
                    <a:pt x="9877" y="1180155"/>
                  </a:lnTo>
                  <a:lnTo>
                    <a:pt x="0" y="1131227"/>
                  </a:lnTo>
                  <a:lnTo>
                    <a:pt x="0" y="125691"/>
                  </a:lnTo>
                  <a:lnTo>
                    <a:pt x="9877" y="76761"/>
                  </a:lnTo>
                  <a:lnTo>
                    <a:pt x="36814" y="36809"/>
                  </a:lnTo>
                  <a:lnTo>
                    <a:pt x="76766" y="9875"/>
                  </a:lnTo>
                  <a:lnTo>
                    <a:pt x="125691" y="0"/>
                  </a:lnTo>
                  <a:lnTo>
                    <a:pt x="1602574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788474" y="5445736"/>
            <a:ext cx="1845310" cy="1268095"/>
            <a:chOff x="3788474" y="5445736"/>
            <a:chExt cx="1845310" cy="1268095"/>
          </a:xfrm>
        </p:grpSpPr>
        <p:sp>
          <p:nvSpPr>
            <p:cNvPr id="24" name="object 24"/>
            <p:cNvSpPr/>
            <p:nvPr/>
          </p:nvSpPr>
          <p:spPr>
            <a:xfrm>
              <a:off x="3793832" y="5451094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1708632" y="0"/>
                  </a:moveTo>
                  <a:lnTo>
                    <a:pt x="231749" y="0"/>
                  </a:lnTo>
                  <a:lnTo>
                    <a:pt x="226415" y="0"/>
                  </a:lnTo>
                  <a:lnTo>
                    <a:pt x="221183" y="330"/>
                  </a:lnTo>
                  <a:lnTo>
                    <a:pt x="216027" y="977"/>
                  </a:lnTo>
                  <a:lnTo>
                    <a:pt x="216027" y="0"/>
                  </a:lnTo>
                  <a:lnTo>
                    <a:pt x="0" y="0"/>
                  </a:lnTo>
                  <a:lnTo>
                    <a:pt x="106045" y="133578"/>
                  </a:lnTo>
                  <a:lnTo>
                    <a:pt x="106045" y="1131227"/>
                  </a:lnTo>
                  <a:lnTo>
                    <a:pt x="115922" y="1180155"/>
                  </a:lnTo>
                  <a:lnTo>
                    <a:pt x="142860" y="1220109"/>
                  </a:lnTo>
                  <a:lnTo>
                    <a:pt x="182817" y="1247045"/>
                  </a:lnTo>
                  <a:lnTo>
                    <a:pt x="231749" y="1256922"/>
                  </a:lnTo>
                  <a:lnTo>
                    <a:pt x="1708632" y="1256922"/>
                  </a:lnTo>
                  <a:lnTo>
                    <a:pt x="1757552" y="1247045"/>
                  </a:lnTo>
                  <a:lnTo>
                    <a:pt x="1797505" y="1220109"/>
                  </a:lnTo>
                  <a:lnTo>
                    <a:pt x="1824445" y="1180155"/>
                  </a:lnTo>
                  <a:lnTo>
                    <a:pt x="1834324" y="1131227"/>
                  </a:lnTo>
                  <a:lnTo>
                    <a:pt x="1834324" y="125691"/>
                  </a:lnTo>
                  <a:lnTo>
                    <a:pt x="1824445" y="76761"/>
                  </a:lnTo>
                  <a:lnTo>
                    <a:pt x="1797505" y="36809"/>
                  </a:lnTo>
                  <a:lnTo>
                    <a:pt x="1757552" y="9875"/>
                  </a:lnTo>
                  <a:lnTo>
                    <a:pt x="1708632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93832" y="5451094"/>
              <a:ext cx="1834514" cy="1257300"/>
            </a:xfrm>
            <a:custGeom>
              <a:avLst/>
              <a:gdLst/>
              <a:ahLst/>
              <a:cxnLst/>
              <a:rect l="l" t="t" r="r" b="b"/>
              <a:pathLst>
                <a:path w="1834514" h="1257300">
                  <a:moveTo>
                    <a:pt x="231749" y="0"/>
                  </a:moveTo>
                  <a:lnTo>
                    <a:pt x="226415" y="0"/>
                  </a:lnTo>
                  <a:lnTo>
                    <a:pt x="221183" y="330"/>
                  </a:lnTo>
                  <a:lnTo>
                    <a:pt x="216027" y="977"/>
                  </a:lnTo>
                  <a:lnTo>
                    <a:pt x="216027" y="0"/>
                  </a:lnTo>
                  <a:lnTo>
                    <a:pt x="0" y="0"/>
                  </a:lnTo>
                  <a:lnTo>
                    <a:pt x="106045" y="133578"/>
                  </a:lnTo>
                  <a:lnTo>
                    <a:pt x="106045" y="1131227"/>
                  </a:lnTo>
                  <a:lnTo>
                    <a:pt x="115922" y="1180155"/>
                  </a:lnTo>
                  <a:lnTo>
                    <a:pt x="142860" y="1220109"/>
                  </a:lnTo>
                  <a:lnTo>
                    <a:pt x="182817" y="1247045"/>
                  </a:lnTo>
                  <a:lnTo>
                    <a:pt x="231749" y="1256922"/>
                  </a:lnTo>
                  <a:lnTo>
                    <a:pt x="1708632" y="1256922"/>
                  </a:lnTo>
                  <a:lnTo>
                    <a:pt x="1757552" y="1247045"/>
                  </a:lnTo>
                  <a:lnTo>
                    <a:pt x="1797505" y="1220109"/>
                  </a:lnTo>
                  <a:lnTo>
                    <a:pt x="1824445" y="1180155"/>
                  </a:lnTo>
                  <a:lnTo>
                    <a:pt x="1834324" y="1131227"/>
                  </a:lnTo>
                  <a:lnTo>
                    <a:pt x="1834324" y="125691"/>
                  </a:lnTo>
                  <a:lnTo>
                    <a:pt x="1824445" y="76761"/>
                  </a:lnTo>
                  <a:lnTo>
                    <a:pt x="1797505" y="36809"/>
                  </a:lnTo>
                  <a:lnTo>
                    <a:pt x="1757552" y="9875"/>
                  </a:lnTo>
                  <a:lnTo>
                    <a:pt x="1708632" y="0"/>
                  </a:lnTo>
                  <a:lnTo>
                    <a:pt x="231749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093322" y="4311082"/>
            <a:ext cx="953135" cy="6775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51130">
              <a:lnSpc>
                <a:spcPct val="103099"/>
              </a:lnSpc>
              <a:spcBef>
                <a:spcPts val="40"/>
              </a:spcBef>
            </a:pP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System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Architectur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400" b="1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32449" y="2852854"/>
            <a:ext cx="1444625" cy="738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45"/>
              </a:spcBef>
            </a:pPr>
            <a:r>
              <a:rPr sz="1400" b="1" spc="-20" dirty="0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endParaRPr sz="1400">
              <a:latin typeface="Tahoma"/>
              <a:cs typeface="Tahoma"/>
            </a:endParaRPr>
          </a:p>
          <a:p>
            <a:pPr marL="12065" marR="5080" algn="ctr">
              <a:lnSpc>
                <a:spcPct val="107800"/>
              </a:lnSpc>
              <a:spcBef>
                <a:spcPts val="434"/>
              </a:spcBef>
            </a:pPr>
            <a:r>
              <a:rPr sz="1100" spc="-70" dirty="0">
                <a:solidFill>
                  <a:srgbClr val="262424"/>
                </a:solidFill>
                <a:latin typeface="Verdana"/>
                <a:cs typeface="Verdana"/>
              </a:rPr>
              <a:t>External</a:t>
            </a:r>
            <a:r>
              <a:rPr sz="11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262424"/>
                </a:solidFill>
                <a:latin typeface="Verdana"/>
                <a:cs typeface="Verdana"/>
              </a:rPr>
              <a:t>client</a:t>
            </a:r>
            <a:r>
              <a:rPr sz="110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sz="110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262424"/>
                </a:solidFill>
                <a:latin typeface="Verdana"/>
                <a:cs typeface="Verdana"/>
              </a:rPr>
              <a:t>end- user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1032" y="2939271"/>
            <a:ext cx="1455420" cy="5575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745"/>
              </a:spcBef>
            </a:pPr>
            <a:r>
              <a:rPr sz="1400" b="1" spc="-35" dirty="0">
                <a:solidFill>
                  <a:srgbClr val="262424"/>
                </a:solidFill>
                <a:latin typeface="Tahoma"/>
                <a:cs typeface="Tahoma"/>
              </a:rPr>
              <a:t>Message</a:t>
            </a:r>
            <a:r>
              <a:rPr sz="1400" b="1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62424"/>
                </a:solidFill>
                <a:latin typeface="Tahoma"/>
                <a:cs typeface="Tahoma"/>
              </a:rPr>
              <a:t>Queue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00" spc="-25" dirty="0">
                <a:solidFill>
                  <a:srgbClr val="262424"/>
                </a:solidFill>
                <a:latin typeface="Verdana"/>
                <a:cs typeface="Verdana"/>
              </a:rPr>
              <a:t>Async</a:t>
            </a:r>
            <a:r>
              <a:rPr sz="110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262424"/>
                </a:solidFill>
                <a:latin typeface="Verdana"/>
                <a:cs typeface="Verdana"/>
              </a:rPr>
              <a:t>communication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79024" y="5657361"/>
            <a:ext cx="1359535" cy="7385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50"/>
              </a:spcBef>
            </a:pPr>
            <a:r>
              <a:rPr sz="1400" b="1" spc="-10" dirty="0">
                <a:solidFill>
                  <a:srgbClr val="262424"/>
                </a:solidFill>
                <a:latin typeface="Tahoma"/>
                <a:cs typeface="Tahoma"/>
              </a:rPr>
              <a:t>Cache</a:t>
            </a:r>
            <a:endParaRPr sz="1400">
              <a:latin typeface="Tahoma"/>
              <a:cs typeface="Tahoma"/>
            </a:endParaRPr>
          </a:p>
          <a:p>
            <a:pPr marL="12065" marR="5080" algn="ctr">
              <a:lnSpc>
                <a:spcPct val="107800"/>
              </a:lnSpc>
              <a:spcBef>
                <a:spcPts val="430"/>
              </a:spcBef>
            </a:pPr>
            <a:r>
              <a:rPr sz="1100" spc="-55" dirty="0">
                <a:solidFill>
                  <a:srgbClr val="262424"/>
                </a:solidFill>
                <a:latin typeface="Verdana"/>
                <a:cs typeface="Verdana"/>
              </a:rPr>
              <a:t>Fast</a:t>
            </a:r>
            <a:r>
              <a:rPr sz="110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262424"/>
                </a:solidFill>
                <a:latin typeface="Verdana"/>
                <a:cs typeface="Verdana"/>
              </a:rPr>
              <a:t>in-</a:t>
            </a:r>
            <a:r>
              <a:rPr sz="1100" spc="-75" dirty="0">
                <a:solidFill>
                  <a:srgbClr val="262424"/>
                </a:solidFill>
                <a:latin typeface="Verdana"/>
                <a:cs typeface="Verdana"/>
              </a:rPr>
              <a:t>memory</a:t>
            </a:r>
            <a:r>
              <a:rPr sz="11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262424"/>
                </a:solidFill>
                <a:latin typeface="Verdana"/>
                <a:cs typeface="Verdana"/>
              </a:rPr>
              <a:t>data </a:t>
            </a:r>
            <a:r>
              <a:rPr sz="1100" spc="-10" dirty="0">
                <a:solidFill>
                  <a:srgbClr val="262424"/>
                </a:solidFill>
                <a:latin typeface="Verdana"/>
                <a:cs typeface="Verdana"/>
              </a:rPr>
              <a:t>store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40950" y="5657367"/>
            <a:ext cx="1227455" cy="7385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1400" b="1" spc="-10" dirty="0">
                <a:solidFill>
                  <a:srgbClr val="262424"/>
                </a:solidFill>
                <a:latin typeface="Tahoma"/>
                <a:cs typeface="Tahoma"/>
              </a:rPr>
              <a:t>Microservices</a:t>
            </a:r>
            <a:endParaRPr sz="1400">
              <a:latin typeface="Tahoma"/>
              <a:cs typeface="Tahoma"/>
            </a:endParaRPr>
          </a:p>
          <a:p>
            <a:pPr marL="12700" marR="5080" algn="ctr">
              <a:lnSpc>
                <a:spcPct val="107800"/>
              </a:lnSpc>
              <a:spcBef>
                <a:spcPts val="430"/>
              </a:spcBef>
            </a:pPr>
            <a:r>
              <a:rPr sz="1100" spc="-45" dirty="0">
                <a:solidFill>
                  <a:srgbClr val="262424"/>
                </a:solidFill>
                <a:latin typeface="Verdana"/>
                <a:cs typeface="Verdana"/>
              </a:rPr>
              <a:t>Business</a:t>
            </a:r>
            <a:r>
              <a:rPr sz="11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262424"/>
                </a:solidFill>
                <a:latin typeface="Verdana"/>
                <a:cs typeface="Verdana"/>
              </a:rPr>
              <a:t>logic</a:t>
            </a:r>
            <a:r>
              <a:rPr sz="110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262424"/>
                </a:solidFill>
                <a:latin typeface="Verdana"/>
                <a:cs typeface="Verdana"/>
              </a:rPr>
              <a:t>orchestration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29607" y="4235479"/>
            <a:ext cx="1318895" cy="738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1400" b="1" spc="-120" dirty="0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sz="140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62424"/>
                </a:solidFill>
                <a:latin typeface="Tahoma"/>
                <a:cs typeface="Tahoma"/>
              </a:rPr>
              <a:t>Gateway</a:t>
            </a:r>
            <a:endParaRPr sz="1400">
              <a:latin typeface="Tahoma"/>
              <a:cs typeface="Tahoma"/>
            </a:endParaRPr>
          </a:p>
          <a:p>
            <a:pPr marL="12700" marR="5080" algn="ctr">
              <a:lnSpc>
                <a:spcPct val="107800"/>
              </a:lnSpc>
              <a:spcBef>
                <a:spcPts val="434"/>
              </a:spcBef>
            </a:pPr>
            <a:r>
              <a:rPr sz="1100" spc="-55" dirty="0">
                <a:solidFill>
                  <a:srgbClr val="262424"/>
                </a:solidFill>
                <a:latin typeface="Verdana"/>
                <a:cs typeface="Verdana"/>
              </a:rPr>
              <a:t>Request</a:t>
            </a:r>
            <a:r>
              <a:rPr sz="110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262424"/>
                </a:solidFill>
                <a:latin typeface="Verdana"/>
                <a:cs typeface="Verdana"/>
              </a:rPr>
              <a:t>routing </a:t>
            </a:r>
            <a:r>
              <a:rPr sz="1100" spc="-35" dirty="0">
                <a:solidFill>
                  <a:srgbClr val="262424"/>
                </a:solidFill>
                <a:latin typeface="Verdana"/>
                <a:cs typeface="Verdana"/>
              </a:rPr>
              <a:t>and </a:t>
            </a:r>
            <a:r>
              <a:rPr sz="1100" spc="-20" dirty="0">
                <a:solidFill>
                  <a:srgbClr val="262424"/>
                </a:solidFill>
                <a:latin typeface="Verdana"/>
                <a:cs typeface="Verdana"/>
              </a:rPr>
              <a:t>auth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3460" y="4329733"/>
            <a:ext cx="1189355" cy="55753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50"/>
              </a:spcBef>
            </a:pPr>
            <a:r>
              <a:rPr sz="1400" b="1" spc="-10" dirty="0">
                <a:solidFill>
                  <a:srgbClr val="262424"/>
                </a:solidFill>
                <a:latin typeface="Tahoma"/>
                <a:cs typeface="Tahoma"/>
              </a:rPr>
              <a:t>Database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100" spc="-55" dirty="0">
                <a:solidFill>
                  <a:srgbClr val="262424"/>
                </a:solidFill>
                <a:latin typeface="Verdana"/>
                <a:cs typeface="Verdana"/>
              </a:rPr>
              <a:t>Persistent</a:t>
            </a:r>
            <a:r>
              <a:rPr sz="1100" spc="-4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262424"/>
                </a:solidFill>
                <a:latin typeface="Verdana"/>
                <a:cs typeface="Verdana"/>
              </a:rPr>
              <a:t>storage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Core</a:t>
            </a:r>
            <a:r>
              <a:rPr spc="-345" dirty="0"/>
              <a:t> </a:t>
            </a:r>
            <a:r>
              <a:rPr spc="-70" dirty="0"/>
              <a:t>Microservices:</a:t>
            </a:r>
            <a:r>
              <a:rPr spc="-345" dirty="0"/>
              <a:t> </a:t>
            </a:r>
            <a:r>
              <a:rPr spc="-30" dirty="0"/>
              <a:t>The</a:t>
            </a:r>
            <a:r>
              <a:rPr spc="-340" dirty="0"/>
              <a:t> </a:t>
            </a:r>
            <a:r>
              <a:rPr spc="-140" dirty="0"/>
              <a:t>Heart</a:t>
            </a:r>
            <a:r>
              <a:rPr spc="-345" dirty="0"/>
              <a:t> </a:t>
            </a:r>
            <a:r>
              <a:rPr spc="-30" dirty="0"/>
              <a:t>of</a:t>
            </a:r>
            <a:r>
              <a:rPr spc="-345" dirty="0"/>
              <a:t> </a:t>
            </a:r>
            <a:r>
              <a:rPr spc="-140" dirty="0"/>
              <a:t>the</a:t>
            </a:r>
            <a:r>
              <a:rPr spc="-340" dirty="0"/>
              <a:t> </a:t>
            </a:r>
            <a:r>
              <a:rPr spc="-2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358900"/>
            <a:ext cx="69557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Each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service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is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Verdana"/>
                <a:cs typeface="Verdana"/>
              </a:rPr>
              <a:t>designed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specific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functionalities,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promoting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modularity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scalability.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1819274"/>
            <a:ext cx="685800" cy="1028700"/>
            <a:chOff x="600075" y="1819274"/>
            <a:chExt cx="685800" cy="1028700"/>
          </a:xfrm>
        </p:grpSpPr>
        <p:sp>
          <p:nvSpPr>
            <p:cNvPr id="5" name="object 5"/>
            <p:cNvSpPr/>
            <p:nvPr/>
          </p:nvSpPr>
          <p:spPr>
            <a:xfrm>
              <a:off x="604837" y="182403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338137" y="0"/>
                  </a:moveTo>
                  <a:lnTo>
                    <a:pt x="296743" y="2542"/>
                  </a:lnTo>
                  <a:lnTo>
                    <a:pt x="255975" y="10133"/>
                  </a:lnTo>
                  <a:lnTo>
                    <a:pt x="216445" y="22658"/>
                  </a:lnTo>
                  <a:lnTo>
                    <a:pt x="178742" y="39928"/>
                  </a:lnTo>
                  <a:lnTo>
                    <a:pt x="143431" y="61683"/>
                  </a:lnTo>
                  <a:lnTo>
                    <a:pt x="111058" y="87595"/>
                  </a:lnTo>
                  <a:lnTo>
                    <a:pt x="82099" y="117270"/>
                  </a:lnTo>
                  <a:lnTo>
                    <a:pt x="56986" y="150279"/>
                  </a:lnTo>
                  <a:lnTo>
                    <a:pt x="36103" y="186109"/>
                  </a:lnTo>
                  <a:lnTo>
                    <a:pt x="19765" y="224220"/>
                  </a:lnTo>
                  <a:lnTo>
                    <a:pt x="8216" y="264048"/>
                  </a:lnTo>
                  <a:lnTo>
                    <a:pt x="1626" y="304990"/>
                  </a:lnTo>
                  <a:lnTo>
                    <a:pt x="0" y="338137"/>
                  </a:lnTo>
                  <a:lnTo>
                    <a:pt x="0" y="681037"/>
                  </a:lnTo>
                  <a:lnTo>
                    <a:pt x="2542" y="722425"/>
                  </a:lnTo>
                  <a:lnTo>
                    <a:pt x="10133" y="763193"/>
                  </a:lnTo>
                  <a:lnTo>
                    <a:pt x="22656" y="802727"/>
                  </a:lnTo>
                  <a:lnTo>
                    <a:pt x="39926" y="840435"/>
                  </a:lnTo>
                  <a:lnTo>
                    <a:pt x="61681" y="875740"/>
                  </a:lnTo>
                  <a:lnTo>
                    <a:pt x="87594" y="908118"/>
                  </a:lnTo>
                  <a:lnTo>
                    <a:pt x="117273" y="937072"/>
                  </a:lnTo>
                  <a:lnTo>
                    <a:pt x="150276" y="962190"/>
                  </a:lnTo>
                  <a:lnTo>
                    <a:pt x="186109" y="983070"/>
                  </a:lnTo>
                  <a:lnTo>
                    <a:pt x="224222" y="999407"/>
                  </a:lnTo>
                  <a:lnTo>
                    <a:pt x="264049" y="1010955"/>
                  </a:lnTo>
                  <a:lnTo>
                    <a:pt x="304993" y="1017549"/>
                  </a:lnTo>
                  <a:lnTo>
                    <a:pt x="338137" y="1019175"/>
                  </a:lnTo>
                  <a:lnTo>
                    <a:pt x="346437" y="1019072"/>
                  </a:lnTo>
                  <a:lnTo>
                    <a:pt x="387751" y="1015511"/>
                  </a:lnTo>
                  <a:lnTo>
                    <a:pt x="428321" y="1006930"/>
                  </a:lnTo>
                  <a:lnTo>
                    <a:pt x="467539" y="993432"/>
                  </a:lnTo>
                  <a:lnTo>
                    <a:pt x="504806" y="975243"/>
                  </a:lnTo>
                  <a:lnTo>
                    <a:pt x="539567" y="952627"/>
                  </a:lnTo>
                  <a:lnTo>
                    <a:pt x="571295" y="925933"/>
                  </a:lnTo>
                  <a:lnTo>
                    <a:pt x="599520" y="895553"/>
                  </a:lnTo>
                  <a:lnTo>
                    <a:pt x="623815" y="861937"/>
                  </a:lnTo>
                  <a:lnTo>
                    <a:pt x="643810" y="825612"/>
                  </a:lnTo>
                  <a:lnTo>
                    <a:pt x="659207" y="787106"/>
                  </a:lnTo>
                  <a:lnTo>
                    <a:pt x="669772" y="747001"/>
                  </a:lnTo>
                  <a:lnTo>
                    <a:pt x="675358" y="705906"/>
                  </a:lnTo>
                  <a:lnTo>
                    <a:pt x="676275" y="681037"/>
                  </a:lnTo>
                  <a:lnTo>
                    <a:pt x="676275" y="338137"/>
                  </a:lnTo>
                  <a:lnTo>
                    <a:pt x="673732" y="296739"/>
                  </a:lnTo>
                  <a:lnTo>
                    <a:pt x="666139" y="255976"/>
                  </a:lnTo>
                  <a:lnTo>
                    <a:pt x="653618" y="216442"/>
                  </a:lnTo>
                  <a:lnTo>
                    <a:pt x="636350" y="178739"/>
                  </a:lnTo>
                  <a:lnTo>
                    <a:pt x="614593" y="143433"/>
                  </a:lnTo>
                  <a:lnTo>
                    <a:pt x="588680" y="111056"/>
                  </a:lnTo>
                  <a:lnTo>
                    <a:pt x="559001" y="82096"/>
                  </a:lnTo>
                  <a:lnTo>
                    <a:pt x="525998" y="56984"/>
                  </a:lnTo>
                  <a:lnTo>
                    <a:pt x="490165" y="36104"/>
                  </a:lnTo>
                  <a:lnTo>
                    <a:pt x="452052" y="19769"/>
                  </a:lnTo>
                  <a:lnTo>
                    <a:pt x="412225" y="8214"/>
                  </a:lnTo>
                  <a:lnTo>
                    <a:pt x="371281" y="1625"/>
                  </a:lnTo>
                  <a:lnTo>
                    <a:pt x="3381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182403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0" y="681037"/>
                  </a:moveTo>
                  <a:lnTo>
                    <a:pt x="0" y="338137"/>
                  </a:lnTo>
                  <a:lnTo>
                    <a:pt x="101" y="329836"/>
                  </a:lnTo>
                  <a:lnTo>
                    <a:pt x="3659" y="288520"/>
                  </a:lnTo>
                  <a:lnTo>
                    <a:pt x="12248" y="247954"/>
                  </a:lnTo>
                  <a:lnTo>
                    <a:pt x="25737" y="208737"/>
                  </a:lnTo>
                  <a:lnTo>
                    <a:pt x="43930" y="171467"/>
                  </a:lnTo>
                  <a:lnTo>
                    <a:pt x="66541" y="136707"/>
                  </a:lnTo>
                  <a:lnTo>
                    <a:pt x="93241" y="104978"/>
                  </a:lnTo>
                  <a:lnTo>
                    <a:pt x="123626" y="76746"/>
                  </a:lnTo>
                  <a:lnTo>
                    <a:pt x="157235" y="52455"/>
                  </a:lnTo>
                  <a:lnTo>
                    <a:pt x="193564" y="32464"/>
                  </a:lnTo>
                  <a:lnTo>
                    <a:pt x="232067" y="17072"/>
                  </a:lnTo>
                  <a:lnTo>
                    <a:pt x="272172" y="6489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7" y="102"/>
                  </a:lnTo>
                  <a:lnTo>
                    <a:pt x="387751" y="3657"/>
                  </a:lnTo>
                  <a:lnTo>
                    <a:pt x="428321" y="12249"/>
                  </a:lnTo>
                  <a:lnTo>
                    <a:pt x="467539" y="25742"/>
                  </a:lnTo>
                  <a:lnTo>
                    <a:pt x="504806" y="43929"/>
                  </a:lnTo>
                  <a:lnTo>
                    <a:pt x="539567" y="66541"/>
                  </a:lnTo>
                  <a:lnTo>
                    <a:pt x="571295" y="93241"/>
                  </a:lnTo>
                  <a:lnTo>
                    <a:pt x="599520" y="123621"/>
                  </a:lnTo>
                  <a:lnTo>
                    <a:pt x="623815" y="157237"/>
                  </a:lnTo>
                  <a:lnTo>
                    <a:pt x="643810" y="193567"/>
                  </a:lnTo>
                  <a:lnTo>
                    <a:pt x="659207" y="232066"/>
                  </a:lnTo>
                  <a:lnTo>
                    <a:pt x="669772" y="272173"/>
                  </a:lnTo>
                  <a:lnTo>
                    <a:pt x="675358" y="313262"/>
                  </a:lnTo>
                  <a:lnTo>
                    <a:pt x="676275" y="338137"/>
                  </a:lnTo>
                  <a:lnTo>
                    <a:pt x="676275" y="681037"/>
                  </a:lnTo>
                  <a:lnTo>
                    <a:pt x="673732" y="722425"/>
                  </a:lnTo>
                  <a:lnTo>
                    <a:pt x="666139" y="763193"/>
                  </a:lnTo>
                  <a:lnTo>
                    <a:pt x="653618" y="802727"/>
                  </a:lnTo>
                  <a:lnTo>
                    <a:pt x="636350" y="840435"/>
                  </a:lnTo>
                  <a:lnTo>
                    <a:pt x="614593" y="875740"/>
                  </a:lnTo>
                  <a:lnTo>
                    <a:pt x="588680" y="908118"/>
                  </a:lnTo>
                  <a:lnTo>
                    <a:pt x="559001" y="937072"/>
                  </a:lnTo>
                  <a:lnTo>
                    <a:pt x="525998" y="962190"/>
                  </a:lnTo>
                  <a:lnTo>
                    <a:pt x="490165" y="983070"/>
                  </a:lnTo>
                  <a:lnTo>
                    <a:pt x="452052" y="999407"/>
                  </a:lnTo>
                  <a:lnTo>
                    <a:pt x="412225" y="1010955"/>
                  </a:lnTo>
                  <a:lnTo>
                    <a:pt x="371281" y="1017549"/>
                  </a:lnTo>
                  <a:lnTo>
                    <a:pt x="338137" y="1019175"/>
                  </a:lnTo>
                  <a:lnTo>
                    <a:pt x="329837" y="1019072"/>
                  </a:lnTo>
                  <a:lnTo>
                    <a:pt x="288523" y="1015511"/>
                  </a:lnTo>
                  <a:lnTo>
                    <a:pt x="247953" y="1006930"/>
                  </a:lnTo>
                  <a:lnTo>
                    <a:pt x="208735" y="993432"/>
                  </a:lnTo>
                  <a:lnTo>
                    <a:pt x="171468" y="975243"/>
                  </a:lnTo>
                  <a:lnTo>
                    <a:pt x="136707" y="952627"/>
                  </a:lnTo>
                  <a:lnTo>
                    <a:pt x="104979" y="925933"/>
                  </a:lnTo>
                  <a:lnTo>
                    <a:pt x="76756" y="895553"/>
                  </a:lnTo>
                  <a:lnTo>
                    <a:pt x="52459" y="861937"/>
                  </a:lnTo>
                  <a:lnTo>
                    <a:pt x="32464" y="825612"/>
                  </a:lnTo>
                  <a:lnTo>
                    <a:pt x="17067" y="787106"/>
                  </a:lnTo>
                  <a:lnTo>
                    <a:pt x="6498" y="747001"/>
                  </a:lnTo>
                  <a:lnTo>
                    <a:pt x="914" y="705906"/>
                  </a:lnTo>
                  <a:lnTo>
                    <a:pt x="0" y="681037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8631" y="2149475"/>
            <a:ext cx="13652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459" dirty="0">
                <a:solidFill>
                  <a:srgbClr val="262424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4625" y="1973262"/>
            <a:ext cx="558419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262424"/>
                </a:solidFill>
                <a:latin typeface="Tahoma"/>
                <a:cs typeface="Tahoma"/>
              </a:rPr>
              <a:t>Event</a:t>
            </a:r>
            <a:r>
              <a:rPr sz="1650" b="1" spc="-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Service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Manages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event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creation,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details,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scheduling,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overall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event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lifecycle.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075" y="3019424"/>
            <a:ext cx="685800" cy="1028700"/>
            <a:chOff x="600075" y="3019424"/>
            <a:chExt cx="685800" cy="1028700"/>
          </a:xfrm>
        </p:grpSpPr>
        <p:sp>
          <p:nvSpPr>
            <p:cNvPr id="10" name="object 10"/>
            <p:cNvSpPr/>
            <p:nvPr/>
          </p:nvSpPr>
          <p:spPr>
            <a:xfrm>
              <a:off x="604837" y="302418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338137" y="0"/>
                  </a:moveTo>
                  <a:lnTo>
                    <a:pt x="296743" y="2542"/>
                  </a:lnTo>
                  <a:lnTo>
                    <a:pt x="255975" y="10133"/>
                  </a:lnTo>
                  <a:lnTo>
                    <a:pt x="216445" y="22658"/>
                  </a:lnTo>
                  <a:lnTo>
                    <a:pt x="178742" y="39928"/>
                  </a:lnTo>
                  <a:lnTo>
                    <a:pt x="143431" y="61683"/>
                  </a:lnTo>
                  <a:lnTo>
                    <a:pt x="111058" y="87595"/>
                  </a:lnTo>
                  <a:lnTo>
                    <a:pt x="82099" y="117270"/>
                  </a:lnTo>
                  <a:lnTo>
                    <a:pt x="56986" y="150279"/>
                  </a:lnTo>
                  <a:lnTo>
                    <a:pt x="36103" y="186107"/>
                  </a:lnTo>
                  <a:lnTo>
                    <a:pt x="19765" y="224220"/>
                  </a:lnTo>
                  <a:lnTo>
                    <a:pt x="8216" y="264048"/>
                  </a:lnTo>
                  <a:lnTo>
                    <a:pt x="1626" y="304990"/>
                  </a:lnTo>
                  <a:lnTo>
                    <a:pt x="0" y="338137"/>
                  </a:lnTo>
                  <a:lnTo>
                    <a:pt x="0" y="681037"/>
                  </a:lnTo>
                  <a:lnTo>
                    <a:pt x="2542" y="722430"/>
                  </a:lnTo>
                  <a:lnTo>
                    <a:pt x="10133" y="763193"/>
                  </a:lnTo>
                  <a:lnTo>
                    <a:pt x="22656" y="802727"/>
                  </a:lnTo>
                  <a:lnTo>
                    <a:pt x="39926" y="840435"/>
                  </a:lnTo>
                  <a:lnTo>
                    <a:pt x="61681" y="875740"/>
                  </a:lnTo>
                  <a:lnTo>
                    <a:pt x="87594" y="908118"/>
                  </a:lnTo>
                  <a:lnTo>
                    <a:pt x="117273" y="937072"/>
                  </a:lnTo>
                  <a:lnTo>
                    <a:pt x="150276" y="962190"/>
                  </a:lnTo>
                  <a:lnTo>
                    <a:pt x="186109" y="983070"/>
                  </a:lnTo>
                  <a:lnTo>
                    <a:pt x="224222" y="999407"/>
                  </a:lnTo>
                  <a:lnTo>
                    <a:pt x="264049" y="1010955"/>
                  </a:lnTo>
                  <a:lnTo>
                    <a:pt x="304993" y="1017549"/>
                  </a:lnTo>
                  <a:lnTo>
                    <a:pt x="338137" y="1019175"/>
                  </a:lnTo>
                  <a:lnTo>
                    <a:pt x="346437" y="1019072"/>
                  </a:lnTo>
                  <a:lnTo>
                    <a:pt x="387751" y="1015515"/>
                  </a:lnTo>
                  <a:lnTo>
                    <a:pt x="428321" y="1006930"/>
                  </a:lnTo>
                  <a:lnTo>
                    <a:pt x="467539" y="993432"/>
                  </a:lnTo>
                  <a:lnTo>
                    <a:pt x="504806" y="975243"/>
                  </a:lnTo>
                  <a:lnTo>
                    <a:pt x="539567" y="952627"/>
                  </a:lnTo>
                  <a:lnTo>
                    <a:pt x="571295" y="925933"/>
                  </a:lnTo>
                  <a:lnTo>
                    <a:pt x="599520" y="895553"/>
                  </a:lnTo>
                  <a:lnTo>
                    <a:pt x="623815" y="861937"/>
                  </a:lnTo>
                  <a:lnTo>
                    <a:pt x="643810" y="825612"/>
                  </a:lnTo>
                  <a:lnTo>
                    <a:pt x="659207" y="787106"/>
                  </a:lnTo>
                  <a:lnTo>
                    <a:pt x="669772" y="747001"/>
                  </a:lnTo>
                  <a:lnTo>
                    <a:pt x="675358" y="705912"/>
                  </a:lnTo>
                  <a:lnTo>
                    <a:pt x="676275" y="681037"/>
                  </a:lnTo>
                  <a:lnTo>
                    <a:pt x="676275" y="338137"/>
                  </a:lnTo>
                  <a:lnTo>
                    <a:pt x="673732" y="296739"/>
                  </a:lnTo>
                  <a:lnTo>
                    <a:pt x="666139" y="255976"/>
                  </a:lnTo>
                  <a:lnTo>
                    <a:pt x="653618" y="216442"/>
                  </a:lnTo>
                  <a:lnTo>
                    <a:pt x="636350" y="178739"/>
                  </a:lnTo>
                  <a:lnTo>
                    <a:pt x="614593" y="143433"/>
                  </a:lnTo>
                  <a:lnTo>
                    <a:pt x="588680" y="111056"/>
                  </a:lnTo>
                  <a:lnTo>
                    <a:pt x="559001" y="82096"/>
                  </a:lnTo>
                  <a:lnTo>
                    <a:pt x="525998" y="56984"/>
                  </a:lnTo>
                  <a:lnTo>
                    <a:pt x="490165" y="36104"/>
                  </a:lnTo>
                  <a:lnTo>
                    <a:pt x="452052" y="19769"/>
                  </a:lnTo>
                  <a:lnTo>
                    <a:pt x="412225" y="8214"/>
                  </a:lnTo>
                  <a:lnTo>
                    <a:pt x="371281" y="1625"/>
                  </a:lnTo>
                  <a:lnTo>
                    <a:pt x="3381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4837" y="302418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0" y="681037"/>
                  </a:moveTo>
                  <a:lnTo>
                    <a:pt x="0" y="338137"/>
                  </a:lnTo>
                  <a:lnTo>
                    <a:pt x="101" y="329836"/>
                  </a:lnTo>
                  <a:lnTo>
                    <a:pt x="3659" y="288520"/>
                  </a:lnTo>
                  <a:lnTo>
                    <a:pt x="12248" y="247954"/>
                  </a:lnTo>
                  <a:lnTo>
                    <a:pt x="25737" y="208737"/>
                  </a:lnTo>
                  <a:lnTo>
                    <a:pt x="43930" y="171467"/>
                  </a:lnTo>
                  <a:lnTo>
                    <a:pt x="66541" y="136707"/>
                  </a:lnTo>
                  <a:lnTo>
                    <a:pt x="93241" y="104978"/>
                  </a:lnTo>
                  <a:lnTo>
                    <a:pt x="123626" y="76746"/>
                  </a:lnTo>
                  <a:lnTo>
                    <a:pt x="157235" y="52460"/>
                  </a:lnTo>
                  <a:lnTo>
                    <a:pt x="193564" y="32464"/>
                  </a:lnTo>
                  <a:lnTo>
                    <a:pt x="232067" y="17072"/>
                  </a:lnTo>
                  <a:lnTo>
                    <a:pt x="272172" y="6489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7" y="102"/>
                  </a:lnTo>
                  <a:lnTo>
                    <a:pt x="387751" y="3657"/>
                  </a:lnTo>
                  <a:lnTo>
                    <a:pt x="428321" y="12249"/>
                  </a:lnTo>
                  <a:lnTo>
                    <a:pt x="467539" y="25742"/>
                  </a:lnTo>
                  <a:lnTo>
                    <a:pt x="504806" y="43931"/>
                  </a:lnTo>
                  <a:lnTo>
                    <a:pt x="539567" y="66541"/>
                  </a:lnTo>
                  <a:lnTo>
                    <a:pt x="571295" y="93241"/>
                  </a:lnTo>
                  <a:lnTo>
                    <a:pt x="599520" y="123621"/>
                  </a:lnTo>
                  <a:lnTo>
                    <a:pt x="623815" y="157237"/>
                  </a:lnTo>
                  <a:lnTo>
                    <a:pt x="643810" y="193562"/>
                  </a:lnTo>
                  <a:lnTo>
                    <a:pt x="659207" y="232066"/>
                  </a:lnTo>
                  <a:lnTo>
                    <a:pt x="669772" y="272173"/>
                  </a:lnTo>
                  <a:lnTo>
                    <a:pt x="675358" y="313262"/>
                  </a:lnTo>
                  <a:lnTo>
                    <a:pt x="676275" y="338137"/>
                  </a:lnTo>
                  <a:lnTo>
                    <a:pt x="676275" y="681037"/>
                  </a:lnTo>
                  <a:lnTo>
                    <a:pt x="673732" y="722430"/>
                  </a:lnTo>
                  <a:lnTo>
                    <a:pt x="666139" y="763193"/>
                  </a:lnTo>
                  <a:lnTo>
                    <a:pt x="653618" y="802727"/>
                  </a:lnTo>
                  <a:lnTo>
                    <a:pt x="636350" y="840435"/>
                  </a:lnTo>
                  <a:lnTo>
                    <a:pt x="614593" y="875740"/>
                  </a:lnTo>
                  <a:lnTo>
                    <a:pt x="588680" y="908118"/>
                  </a:lnTo>
                  <a:lnTo>
                    <a:pt x="559001" y="937072"/>
                  </a:lnTo>
                  <a:lnTo>
                    <a:pt x="525998" y="962190"/>
                  </a:lnTo>
                  <a:lnTo>
                    <a:pt x="490165" y="983070"/>
                  </a:lnTo>
                  <a:lnTo>
                    <a:pt x="452052" y="999407"/>
                  </a:lnTo>
                  <a:lnTo>
                    <a:pt x="412225" y="1010955"/>
                  </a:lnTo>
                  <a:lnTo>
                    <a:pt x="371281" y="1017549"/>
                  </a:lnTo>
                  <a:lnTo>
                    <a:pt x="338137" y="1019175"/>
                  </a:lnTo>
                  <a:lnTo>
                    <a:pt x="329837" y="1019072"/>
                  </a:lnTo>
                  <a:lnTo>
                    <a:pt x="288523" y="1015515"/>
                  </a:lnTo>
                  <a:lnTo>
                    <a:pt x="247953" y="1006930"/>
                  </a:lnTo>
                  <a:lnTo>
                    <a:pt x="208735" y="993432"/>
                  </a:lnTo>
                  <a:lnTo>
                    <a:pt x="171468" y="975243"/>
                  </a:lnTo>
                  <a:lnTo>
                    <a:pt x="136707" y="952627"/>
                  </a:lnTo>
                  <a:lnTo>
                    <a:pt x="104979" y="925933"/>
                  </a:lnTo>
                  <a:lnTo>
                    <a:pt x="76756" y="895553"/>
                  </a:lnTo>
                  <a:lnTo>
                    <a:pt x="52459" y="861937"/>
                  </a:lnTo>
                  <a:lnTo>
                    <a:pt x="32464" y="825612"/>
                  </a:lnTo>
                  <a:lnTo>
                    <a:pt x="17067" y="787106"/>
                  </a:lnTo>
                  <a:lnTo>
                    <a:pt x="6498" y="747001"/>
                  </a:lnTo>
                  <a:lnTo>
                    <a:pt x="914" y="705912"/>
                  </a:lnTo>
                  <a:lnTo>
                    <a:pt x="0" y="681037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53033" y="3349625"/>
            <a:ext cx="18796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262424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4625" y="3173412"/>
            <a:ext cx="642493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5" dirty="0">
                <a:solidFill>
                  <a:srgbClr val="262424"/>
                </a:solidFill>
                <a:latin typeface="Tahoma"/>
                <a:cs typeface="Tahoma"/>
              </a:rPr>
              <a:t>Seat</a:t>
            </a:r>
            <a:r>
              <a:rPr sz="1650" b="1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Service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Handles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inventory,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availability,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manages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seat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map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various</a:t>
            </a:r>
            <a:r>
              <a:rPr sz="1350" spc="-114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venues.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5" y="4219575"/>
            <a:ext cx="685800" cy="1028700"/>
            <a:chOff x="600075" y="4219575"/>
            <a:chExt cx="685800" cy="1028700"/>
          </a:xfrm>
        </p:grpSpPr>
        <p:sp>
          <p:nvSpPr>
            <p:cNvPr id="15" name="object 15"/>
            <p:cNvSpPr/>
            <p:nvPr/>
          </p:nvSpPr>
          <p:spPr>
            <a:xfrm>
              <a:off x="604837" y="422433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338137" y="0"/>
                  </a:moveTo>
                  <a:lnTo>
                    <a:pt x="296743" y="2542"/>
                  </a:lnTo>
                  <a:lnTo>
                    <a:pt x="255975" y="10133"/>
                  </a:lnTo>
                  <a:lnTo>
                    <a:pt x="216445" y="22658"/>
                  </a:lnTo>
                  <a:lnTo>
                    <a:pt x="178742" y="39928"/>
                  </a:lnTo>
                  <a:lnTo>
                    <a:pt x="143431" y="61683"/>
                  </a:lnTo>
                  <a:lnTo>
                    <a:pt x="111058" y="87595"/>
                  </a:lnTo>
                  <a:lnTo>
                    <a:pt x="82099" y="117270"/>
                  </a:lnTo>
                  <a:lnTo>
                    <a:pt x="56986" y="150279"/>
                  </a:lnTo>
                  <a:lnTo>
                    <a:pt x="36103" y="186107"/>
                  </a:lnTo>
                  <a:lnTo>
                    <a:pt x="19765" y="224220"/>
                  </a:lnTo>
                  <a:lnTo>
                    <a:pt x="8216" y="264048"/>
                  </a:lnTo>
                  <a:lnTo>
                    <a:pt x="1626" y="304990"/>
                  </a:lnTo>
                  <a:lnTo>
                    <a:pt x="0" y="338137"/>
                  </a:lnTo>
                  <a:lnTo>
                    <a:pt x="0" y="681037"/>
                  </a:lnTo>
                  <a:lnTo>
                    <a:pt x="2542" y="722430"/>
                  </a:lnTo>
                  <a:lnTo>
                    <a:pt x="10133" y="763193"/>
                  </a:lnTo>
                  <a:lnTo>
                    <a:pt x="22656" y="802727"/>
                  </a:lnTo>
                  <a:lnTo>
                    <a:pt x="39926" y="840435"/>
                  </a:lnTo>
                  <a:lnTo>
                    <a:pt x="61681" y="875740"/>
                  </a:lnTo>
                  <a:lnTo>
                    <a:pt x="87594" y="908118"/>
                  </a:lnTo>
                  <a:lnTo>
                    <a:pt x="117273" y="937072"/>
                  </a:lnTo>
                  <a:lnTo>
                    <a:pt x="150276" y="962190"/>
                  </a:lnTo>
                  <a:lnTo>
                    <a:pt x="186109" y="983070"/>
                  </a:lnTo>
                  <a:lnTo>
                    <a:pt x="224222" y="999407"/>
                  </a:lnTo>
                  <a:lnTo>
                    <a:pt x="264049" y="1010955"/>
                  </a:lnTo>
                  <a:lnTo>
                    <a:pt x="304993" y="1017549"/>
                  </a:lnTo>
                  <a:lnTo>
                    <a:pt x="338137" y="1019175"/>
                  </a:lnTo>
                  <a:lnTo>
                    <a:pt x="346437" y="1019072"/>
                  </a:lnTo>
                  <a:lnTo>
                    <a:pt x="387751" y="1015511"/>
                  </a:lnTo>
                  <a:lnTo>
                    <a:pt x="428321" y="1006930"/>
                  </a:lnTo>
                  <a:lnTo>
                    <a:pt x="467539" y="993432"/>
                  </a:lnTo>
                  <a:lnTo>
                    <a:pt x="504806" y="975243"/>
                  </a:lnTo>
                  <a:lnTo>
                    <a:pt x="539567" y="952627"/>
                  </a:lnTo>
                  <a:lnTo>
                    <a:pt x="571295" y="925933"/>
                  </a:lnTo>
                  <a:lnTo>
                    <a:pt x="599520" y="895553"/>
                  </a:lnTo>
                  <a:lnTo>
                    <a:pt x="623815" y="861937"/>
                  </a:lnTo>
                  <a:lnTo>
                    <a:pt x="643810" y="825612"/>
                  </a:lnTo>
                  <a:lnTo>
                    <a:pt x="659207" y="787106"/>
                  </a:lnTo>
                  <a:lnTo>
                    <a:pt x="669772" y="747001"/>
                  </a:lnTo>
                  <a:lnTo>
                    <a:pt x="675358" y="705912"/>
                  </a:lnTo>
                  <a:lnTo>
                    <a:pt x="676275" y="681037"/>
                  </a:lnTo>
                  <a:lnTo>
                    <a:pt x="676275" y="338137"/>
                  </a:lnTo>
                  <a:lnTo>
                    <a:pt x="673732" y="296739"/>
                  </a:lnTo>
                  <a:lnTo>
                    <a:pt x="666139" y="255976"/>
                  </a:lnTo>
                  <a:lnTo>
                    <a:pt x="653618" y="216442"/>
                  </a:lnTo>
                  <a:lnTo>
                    <a:pt x="636350" y="178739"/>
                  </a:lnTo>
                  <a:lnTo>
                    <a:pt x="614593" y="143433"/>
                  </a:lnTo>
                  <a:lnTo>
                    <a:pt x="588680" y="111056"/>
                  </a:lnTo>
                  <a:lnTo>
                    <a:pt x="559001" y="82096"/>
                  </a:lnTo>
                  <a:lnTo>
                    <a:pt x="525998" y="56984"/>
                  </a:lnTo>
                  <a:lnTo>
                    <a:pt x="490165" y="36104"/>
                  </a:lnTo>
                  <a:lnTo>
                    <a:pt x="452052" y="19769"/>
                  </a:lnTo>
                  <a:lnTo>
                    <a:pt x="412225" y="8214"/>
                  </a:lnTo>
                  <a:lnTo>
                    <a:pt x="371281" y="1625"/>
                  </a:lnTo>
                  <a:lnTo>
                    <a:pt x="3381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4837" y="422433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0" y="681037"/>
                  </a:moveTo>
                  <a:lnTo>
                    <a:pt x="0" y="338137"/>
                  </a:lnTo>
                  <a:lnTo>
                    <a:pt x="101" y="329836"/>
                  </a:lnTo>
                  <a:lnTo>
                    <a:pt x="3659" y="288520"/>
                  </a:lnTo>
                  <a:lnTo>
                    <a:pt x="12248" y="247954"/>
                  </a:lnTo>
                  <a:lnTo>
                    <a:pt x="25737" y="208737"/>
                  </a:lnTo>
                  <a:lnTo>
                    <a:pt x="43930" y="171467"/>
                  </a:lnTo>
                  <a:lnTo>
                    <a:pt x="66541" y="136707"/>
                  </a:lnTo>
                  <a:lnTo>
                    <a:pt x="93241" y="104978"/>
                  </a:lnTo>
                  <a:lnTo>
                    <a:pt x="123626" y="76746"/>
                  </a:lnTo>
                  <a:lnTo>
                    <a:pt x="157235" y="52455"/>
                  </a:lnTo>
                  <a:lnTo>
                    <a:pt x="193564" y="32464"/>
                  </a:lnTo>
                  <a:lnTo>
                    <a:pt x="232067" y="17072"/>
                  </a:lnTo>
                  <a:lnTo>
                    <a:pt x="272172" y="6489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7" y="102"/>
                  </a:lnTo>
                  <a:lnTo>
                    <a:pt x="387751" y="3657"/>
                  </a:lnTo>
                  <a:lnTo>
                    <a:pt x="428321" y="12249"/>
                  </a:lnTo>
                  <a:lnTo>
                    <a:pt x="467539" y="25742"/>
                  </a:lnTo>
                  <a:lnTo>
                    <a:pt x="504806" y="43929"/>
                  </a:lnTo>
                  <a:lnTo>
                    <a:pt x="539567" y="66541"/>
                  </a:lnTo>
                  <a:lnTo>
                    <a:pt x="571295" y="93241"/>
                  </a:lnTo>
                  <a:lnTo>
                    <a:pt x="599520" y="123621"/>
                  </a:lnTo>
                  <a:lnTo>
                    <a:pt x="623815" y="157237"/>
                  </a:lnTo>
                  <a:lnTo>
                    <a:pt x="643810" y="193562"/>
                  </a:lnTo>
                  <a:lnTo>
                    <a:pt x="659207" y="232066"/>
                  </a:lnTo>
                  <a:lnTo>
                    <a:pt x="669772" y="272173"/>
                  </a:lnTo>
                  <a:lnTo>
                    <a:pt x="675358" y="313262"/>
                  </a:lnTo>
                  <a:lnTo>
                    <a:pt x="676275" y="338137"/>
                  </a:lnTo>
                  <a:lnTo>
                    <a:pt x="676275" y="681037"/>
                  </a:lnTo>
                  <a:lnTo>
                    <a:pt x="673732" y="722430"/>
                  </a:lnTo>
                  <a:lnTo>
                    <a:pt x="666139" y="763193"/>
                  </a:lnTo>
                  <a:lnTo>
                    <a:pt x="653618" y="802727"/>
                  </a:lnTo>
                  <a:lnTo>
                    <a:pt x="636350" y="840435"/>
                  </a:lnTo>
                  <a:lnTo>
                    <a:pt x="614593" y="875740"/>
                  </a:lnTo>
                  <a:lnTo>
                    <a:pt x="588680" y="908118"/>
                  </a:lnTo>
                  <a:lnTo>
                    <a:pt x="559001" y="937072"/>
                  </a:lnTo>
                  <a:lnTo>
                    <a:pt x="525998" y="962190"/>
                  </a:lnTo>
                  <a:lnTo>
                    <a:pt x="490165" y="983070"/>
                  </a:lnTo>
                  <a:lnTo>
                    <a:pt x="452052" y="999407"/>
                  </a:lnTo>
                  <a:lnTo>
                    <a:pt x="412225" y="1010955"/>
                  </a:lnTo>
                  <a:lnTo>
                    <a:pt x="371281" y="1017549"/>
                  </a:lnTo>
                  <a:lnTo>
                    <a:pt x="338137" y="1019175"/>
                  </a:lnTo>
                  <a:lnTo>
                    <a:pt x="329837" y="1019072"/>
                  </a:lnTo>
                  <a:lnTo>
                    <a:pt x="288523" y="1015511"/>
                  </a:lnTo>
                  <a:lnTo>
                    <a:pt x="247953" y="1006930"/>
                  </a:lnTo>
                  <a:lnTo>
                    <a:pt x="208735" y="993432"/>
                  </a:lnTo>
                  <a:lnTo>
                    <a:pt x="171468" y="975243"/>
                  </a:lnTo>
                  <a:lnTo>
                    <a:pt x="136707" y="952627"/>
                  </a:lnTo>
                  <a:lnTo>
                    <a:pt x="104979" y="925933"/>
                  </a:lnTo>
                  <a:lnTo>
                    <a:pt x="76756" y="895553"/>
                  </a:lnTo>
                  <a:lnTo>
                    <a:pt x="52459" y="861937"/>
                  </a:lnTo>
                  <a:lnTo>
                    <a:pt x="32464" y="825612"/>
                  </a:lnTo>
                  <a:lnTo>
                    <a:pt x="17067" y="787106"/>
                  </a:lnTo>
                  <a:lnTo>
                    <a:pt x="6498" y="747001"/>
                  </a:lnTo>
                  <a:lnTo>
                    <a:pt x="914" y="705912"/>
                  </a:lnTo>
                  <a:lnTo>
                    <a:pt x="0" y="681037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1098" y="4549775"/>
            <a:ext cx="19177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262424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4625" y="4373562"/>
            <a:ext cx="7442834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Reservation</a:t>
            </a:r>
            <a:r>
              <a:rPr sz="16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Service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50" dirty="0">
                <a:solidFill>
                  <a:srgbClr val="262424"/>
                </a:solidFill>
                <a:latin typeface="Verdana"/>
                <a:cs typeface="Verdana"/>
              </a:rPr>
              <a:t>Manages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temporary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locks,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reservations,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ensures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atomic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operations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seat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allocation.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5" y="5419725"/>
            <a:ext cx="685800" cy="1028700"/>
            <a:chOff x="600075" y="5419725"/>
            <a:chExt cx="685800" cy="1028700"/>
          </a:xfrm>
        </p:grpSpPr>
        <p:sp>
          <p:nvSpPr>
            <p:cNvPr id="20" name="object 20"/>
            <p:cNvSpPr/>
            <p:nvPr/>
          </p:nvSpPr>
          <p:spPr>
            <a:xfrm>
              <a:off x="604837" y="542448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338137" y="0"/>
                  </a:moveTo>
                  <a:lnTo>
                    <a:pt x="296743" y="2542"/>
                  </a:lnTo>
                  <a:lnTo>
                    <a:pt x="255975" y="10133"/>
                  </a:lnTo>
                  <a:lnTo>
                    <a:pt x="216445" y="22658"/>
                  </a:lnTo>
                  <a:lnTo>
                    <a:pt x="178742" y="39928"/>
                  </a:lnTo>
                  <a:lnTo>
                    <a:pt x="143431" y="61683"/>
                  </a:lnTo>
                  <a:lnTo>
                    <a:pt x="111058" y="87595"/>
                  </a:lnTo>
                  <a:lnTo>
                    <a:pt x="82099" y="117270"/>
                  </a:lnTo>
                  <a:lnTo>
                    <a:pt x="56986" y="150279"/>
                  </a:lnTo>
                  <a:lnTo>
                    <a:pt x="36103" y="186107"/>
                  </a:lnTo>
                  <a:lnTo>
                    <a:pt x="19765" y="224220"/>
                  </a:lnTo>
                  <a:lnTo>
                    <a:pt x="8216" y="264048"/>
                  </a:lnTo>
                  <a:lnTo>
                    <a:pt x="1626" y="304990"/>
                  </a:lnTo>
                  <a:lnTo>
                    <a:pt x="0" y="338137"/>
                  </a:lnTo>
                  <a:lnTo>
                    <a:pt x="0" y="681037"/>
                  </a:lnTo>
                  <a:lnTo>
                    <a:pt x="2542" y="722425"/>
                  </a:lnTo>
                  <a:lnTo>
                    <a:pt x="10133" y="763193"/>
                  </a:lnTo>
                  <a:lnTo>
                    <a:pt x="22656" y="802727"/>
                  </a:lnTo>
                  <a:lnTo>
                    <a:pt x="39926" y="840435"/>
                  </a:lnTo>
                  <a:lnTo>
                    <a:pt x="61681" y="875740"/>
                  </a:lnTo>
                  <a:lnTo>
                    <a:pt x="87594" y="908118"/>
                  </a:lnTo>
                  <a:lnTo>
                    <a:pt x="117273" y="937072"/>
                  </a:lnTo>
                  <a:lnTo>
                    <a:pt x="150276" y="962190"/>
                  </a:lnTo>
                  <a:lnTo>
                    <a:pt x="186109" y="983070"/>
                  </a:lnTo>
                  <a:lnTo>
                    <a:pt x="224222" y="999407"/>
                  </a:lnTo>
                  <a:lnTo>
                    <a:pt x="264049" y="1010953"/>
                  </a:lnTo>
                  <a:lnTo>
                    <a:pt x="304993" y="1017549"/>
                  </a:lnTo>
                  <a:lnTo>
                    <a:pt x="338137" y="1019175"/>
                  </a:lnTo>
                  <a:lnTo>
                    <a:pt x="346437" y="1019072"/>
                  </a:lnTo>
                  <a:lnTo>
                    <a:pt x="387751" y="1015511"/>
                  </a:lnTo>
                  <a:lnTo>
                    <a:pt x="428321" y="1006925"/>
                  </a:lnTo>
                  <a:lnTo>
                    <a:pt x="467539" y="993432"/>
                  </a:lnTo>
                  <a:lnTo>
                    <a:pt x="504806" y="975243"/>
                  </a:lnTo>
                  <a:lnTo>
                    <a:pt x="539567" y="952627"/>
                  </a:lnTo>
                  <a:lnTo>
                    <a:pt x="571295" y="925933"/>
                  </a:lnTo>
                  <a:lnTo>
                    <a:pt x="599520" y="895553"/>
                  </a:lnTo>
                  <a:lnTo>
                    <a:pt x="623815" y="861937"/>
                  </a:lnTo>
                  <a:lnTo>
                    <a:pt x="643810" y="825612"/>
                  </a:lnTo>
                  <a:lnTo>
                    <a:pt x="659207" y="787106"/>
                  </a:lnTo>
                  <a:lnTo>
                    <a:pt x="669772" y="747001"/>
                  </a:lnTo>
                  <a:lnTo>
                    <a:pt x="675358" y="705906"/>
                  </a:lnTo>
                  <a:lnTo>
                    <a:pt x="676275" y="681037"/>
                  </a:lnTo>
                  <a:lnTo>
                    <a:pt x="676275" y="338137"/>
                  </a:lnTo>
                  <a:lnTo>
                    <a:pt x="673732" y="296739"/>
                  </a:lnTo>
                  <a:lnTo>
                    <a:pt x="666139" y="255976"/>
                  </a:lnTo>
                  <a:lnTo>
                    <a:pt x="653618" y="216442"/>
                  </a:lnTo>
                  <a:lnTo>
                    <a:pt x="636350" y="178739"/>
                  </a:lnTo>
                  <a:lnTo>
                    <a:pt x="614593" y="143433"/>
                  </a:lnTo>
                  <a:lnTo>
                    <a:pt x="588680" y="111056"/>
                  </a:lnTo>
                  <a:lnTo>
                    <a:pt x="559001" y="82096"/>
                  </a:lnTo>
                  <a:lnTo>
                    <a:pt x="525998" y="56984"/>
                  </a:lnTo>
                  <a:lnTo>
                    <a:pt x="490165" y="36099"/>
                  </a:lnTo>
                  <a:lnTo>
                    <a:pt x="452052" y="19769"/>
                  </a:lnTo>
                  <a:lnTo>
                    <a:pt x="412225" y="8214"/>
                  </a:lnTo>
                  <a:lnTo>
                    <a:pt x="371281" y="1625"/>
                  </a:lnTo>
                  <a:lnTo>
                    <a:pt x="3381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4837" y="542448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0" y="681037"/>
                  </a:moveTo>
                  <a:lnTo>
                    <a:pt x="0" y="338137"/>
                  </a:lnTo>
                  <a:lnTo>
                    <a:pt x="101" y="329836"/>
                  </a:lnTo>
                  <a:lnTo>
                    <a:pt x="3659" y="288520"/>
                  </a:lnTo>
                  <a:lnTo>
                    <a:pt x="12248" y="247954"/>
                  </a:lnTo>
                  <a:lnTo>
                    <a:pt x="25737" y="208737"/>
                  </a:lnTo>
                  <a:lnTo>
                    <a:pt x="43930" y="171467"/>
                  </a:lnTo>
                  <a:lnTo>
                    <a:pt x="66541" y="136707"/>
                  </a:lnTo>
                  <a:lnTo>
                    <a:pt x="93241" y="104978"/>
                  </a:lnTo>
                  <a:lnTo>
                    <a:pt x="123626" y="76746"/>
                  </a:lnTo>
                  <a:lnTo>
                    <a:pt x="157235" y="52455"/>
                  </a:lnTo>
                  <a:lnTo>
                    <a:pt x="193564" y="32459"/>
                  </a:lnTo>
                  <a:lnTo>
                    <a:pt x="232067" y="17072"/>
                  </a:lnTo>
                  <a:lnTo>
                    <a:pt x="272172" y="6489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7" y="102"/>
                  </a:lnTo>
                  <a:lnTo>
                    <a:pt x="387751" y="3657"/>
                  </a:lnTo>
                  <a:lnTo>
                    <a:pt x="428321" y="12249"/>
                  </a:lnTo>
                  <a:lnTo>
                    <a:pt x="467539" y="25742"/>
                  </a:lnTo>
                  <a:lnTo>
                    <a:pt x="504806" y="43929"/>
                  </a:lnTo>
                  <a:lnTo>
                    <a:pt x="539567" y="66541"/>
                  </a:lnTo>
                  <a:lnTo>
                    <a:pt x="571295" y="93241"/>
                  </a:lnTo>
                  <a:lnTo>
                    <a:pt x="599520" y="123621"/>
                  </a:lnTo>
                  <a:lnTo>
                    <a:pt x="623815" y="157237"/>
                  </a:lnTo>
                  <a:lnTo>
                    <a:pt x="643810" y="193562"/>
                  </a:lnTo>
                  <a:lnTo>
                    <a:pt x="659207" y="232066"/>
                  </a:lnTo>
                  <a:lnTo>
                    <a:pt x="669772" y="272173"/>
                  </a:lnTo>
                  <a:lnTo>
                    <a:pt x="675358" y="313262"/>
                  </a:lnTo>
                  <a:lnTo>
                    <a:pt x="676275" y="338137"/>
                  </a:lnTo>
                  <a:lnTo>
                    <a:pt x="676275" y="681037"/>
                  </a:lnTo>
                  <a:lnTo>
                    <a:pt x="673732" y="722425"/>
                  </a:lnTo>
                  <a:lnTo>
                    <a:pt x="666139" y="763193"/>
                  </a:lnTo>
                  <a:lnTo>
                    <a:pt x="653618" y="802727"/>
                  </a:lnTo>
                  <a:lnTo>
                    <a:pt x="636350" y="840435"/>
                  </a:lnTo>
                  <a:lnTo>
                    <a:pt x="614593" y="875740"/>
                  </a:lnTo>
                  <a:lnTo>
                    <a:pt x="588680" y="908118"/>
                  </a:lnTo>
                  <a:lnTo>
                    <a:pt x="559001" y="937072"/>
                  </a:lnTo>
                  <a:lnTo>
                    <a:pt x="525998" y="962190"/>
                  </a:lnTo>
                  <a:lnTo>
                    <a:pt x="490165" y="983070"/>
                  </a:lnTo>
                  <a:lnTo>
                    <a:pt x="452052" y="999407"/>
                  </a:lnTo>
                  <a:lnTo>
                    <a:pt x="412225" y="1010953"/>
                  </a:lnTo>
                  <a:lnTo>
                    <a:pt x="371281" y="1017549"/>
                  </a:lnTo>
                  <a:lnTo>
                    <a:pt x="338137" y="1019175"/>
                  </a:lnTo>
                  <a:lnTo>
                    <a:pt x="329837" y="1019072"/>
                  </a:lnTo>
                  <a:lnTo>
                    <a:pt x="288523" y="1015511"/>
                  </a:lnTo>
                  <a:lnTo>
                    <a:pt x="247953" y="1006925"/>
                  </a:lnTo>
                  <a:lnTo>
                    <a:pt x="208735" y="993432"/>
                  </a:lnTo>
                  <a:lnTo>
                    <a:pt x="171468" y="975243"/>
                  </a:lnTo>
                  <a:lnTo>
                    <a:pt x="136707" y="952627"/>
                  </a:lnTo>
                  <a:lnTo>
                    <a:pt x="104979" y="925933"/>
                  </a:lnTo>
                  <a:lnTo>
                    <a:pt x="76756" y="895553"/>
                  </a:lnTo>
                  <a:lnTo>
                    <a:pt x="52459" y="861937"/>
                  </a:lnTo>
                  <a:lnTo>
                    <a:pt x="32464" y="825612"/>
                  </a:lnTo>
                  <a:lnTo>
                    <a:pt x="17067" y="787106"/>
                  </a:lnTo>
                  <a:lnTo>
                    <a:pt x="6498" y="747001"/>
                  </a:lnTo>
                  <a:lnTo>
                    <a:pt x="914" y="705906"/>
                  </a:lnTo>
                  <a:lnTo>
                    <a:pt x="0" y="681037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7079" y="5749925"/>
            <a:ext cx="19939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35" dirty="0">
                <a:solidFill>
                  <a:srgbClr val="262424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4625" y="5573712"/>
            <a:ext cx="792988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262424"/>
                </a:solidFill>
                <a:latin typeface="Tahoma"/>
                <a:cs typeface="Tahoma"/>
              </a:rPr>
              <a:t>Payment</a:t>
            </a:r>
            <a:r>
              <a:rPr sz="1650" b="1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Service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Processes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all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financial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transactions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securely,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handles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refunds,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integrates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with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payment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gateways.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075" y="6619875"/>
            <a:ext cx="685800" cy="1028700"/>
            <a:chOff x="600075" y="6619875"/>
            <a:chExt cx="685800" cy="1028700"/>
          </a:xfrm>
        </p:grpSpPr>
        <p:sp>
          <p:nvSpPr>
            <p:cNvPr id="25" name="object 25"/>
            <p:cNvSpPr/>
            <p:nvPr/>
          </p:nvSpPr>
          <p:spPr>
            <a:xfrm>
              <a:off x="604837" y="662463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338137" y="0"/>
                  </a:moveTo>
                  <a:lnTo>
                    <a:pt x="296743" y="2542"/>
                  </a:lnTo>
                  <a:lnTo>
                    <a:pt x="255975" y="10133"/>
                  </a:lnTo>
                  <a:lnTo>
                    <a:pt x="216445" y="22657"/>
                  </a:lnTo>
                  <a:lnTo>
                    <a:pt x="178742" y="39928"/>
                  </a:lnTo>
                  <a:lnTo>
                    <a:pt x="143431" y="61683"/>
                  </a:lnTo>
                  <a:lnTo>
                    <a:pt x="111058" y="87595"/>
                  </a:lnTo>
                  <a:lnTo>
                    <a:pt x="82099" y="117270"/>
                  </a:lnTo>
                  <a:lnTo>
                    <a:pt x="56986" y="150279"/>
                  </a:lnTo>
                  <a:lnTo>
                    <a:pt x="36103" y="186107"/>
                  </a:lnTo>
                  <a:lnTo>
                    <a:pt x="19765" y="224217"/>
                  </a:lnTo>
                  <a:lnTo>
                    <a:pt x="8216" y="264047"/>
                  </a:lnTo>
                  <a:lnTo>
                    <a:pt x="1626" y="304994"/>
                  </a:lnTo>
                  <a:lnTo>
                    <a:pt x="0" y="338138"/>
                  </a:lnTo>
                  <a:lnTo>
                    <a:pt x="0" y="681038"/>
                  </a:lnTo>
                  <a:lnTo>
                    <a:pt x="2542" y="722429"/>
                  </a:lnTo>
                  <a:lnTo>
                    <a:pt x="10133" y="763195"/>
                  </a:lnTo>
                  <a:lnTo>
                    <a:pt x="22656" y="802727"/>
                  </a:lnTo>
                  <a:lnTo>
                    <a:pt x="39926" y="840433"/>
                  </a:lnTo>
                  <a:lnTo>
                    <a:pt x="61681" y="875739"/>
                  </a:lnTo>
                  <a:lnTo>
                    <a:pt x="87594" y="908113"/>
                  </a:lnTo>
                  <a:lnTo>
                    <a:pt x="117273" y="937075"/>
                  </a:lnTo>
                  <a:lnTo>
                    <a:pt x="150276" y="962185"/>
                  </a:lnTo>
                  <a:lnTo>
                    <a:pt x="186109" y="983070"/>
                  </a:lnTo>
                  <a:lnTo>
                    <a:pt x="224222" y="999409"/>
                  </a:lnTo>
                  <a:lnTo>
                    <a:pt x="264049" y="1010957"/>
                  </a:lnTo>
                  <a:lnTo>
                    <a:pt x="304993" y="1017544"/>
                  </a:lnTo>
                  <a:lnTo>
                    <a:pt x="338137" y="1019176"/>
                  </a:lnTo>
                  <a:lnTo>
                    <a:pt x="346437" y="1019073"/>
                  </a:lnTo>
                  <a:lnTo>
                    <a:pt x="387751" y="1015514"/>
                  </a:lnTo>
                  <a:lnTo>
                    <a:pt x="428321" y="1006927"/>
                  </a:lnTo>
                  <a:lnTo>
                    <a:pt x="467539" y="993433"/>
                  </a:lnTo>
                  <a:lnTo>
                    <a:pt x="504806" y="975243"/>
                  </a:lnTo>
                  <a:lnTo>
                    <a:pt x="539567" y="952630"/>
                  </a:lnTo>
                  <a:lnTo>
                    <a:pt x="571295" y="925932"/>
                  </a:lnTo>
                  <a:lnTo>
                    <a:pt x="599520" y="895549"/>
                  </a:lnTo>
                  <a:lnTo>
                    <a:pt x="623815" y="861936"/>
                  </a:lnTo>
                  <a:lnTo>
                    <a:pt x="643810" y="825606"/>
                  </a:lnTo>
                  <a:lnTo>
                    <a:pt x="659207" y="787106"/>
                  </a:lnTo>
                  <a:lnTo>
                    <a:pt x="669772" y="747003"/>
                  </a:lnTo>
                  <a:lnTo>
                    <a:pt x="675358" y="705908"/>
                  </a:lnTo>
                  <a:lnTo>
                    <a:pt x="676275" y="681038"/>
                  </a:lnTo>
                  <a:lnTo>
                    <a:pt x="676275" y="338138"/>
                  </a:lnTo>
                  <a:lnTo>
                    <a:pt x="673732" y="296742"/>
                  </a:lnTo>
                  <a:lnTo>
                    <a:pt x="666139" y="255975"/>
                  </a:lnTo>
                  <a:lnTo>
                    <a:pt x="653618" y="216441"/>
                  </a:lnTo>
                  <a:lnTo>
                    <a:pt x="636350" y="178739"/>
                  </a:lnTo>
                  <a:lnTo>
                    <a:pt x="614593" y="143433"/>
                  </a:lnTo>
                  <a:lnTo>
                    <a:pt x="588680" y="111056"/>
                  </a:lnTo>
                  <a:lnTo>
                    <a:pt x="559001" y="82096"/>
                  </a:lnTo>
                  <a:lnTo>
                    <a:pt x="525998" y="56984"/>
                  </a:lnTo>
                  <a:lnTo>
                    <a:pt x="490165" y="36099"/>
                  </a:lnTo>
                  <a:lnTo>
                    <a:pt x="452052" y="19762"/>
                  </a:lnTo>
                  <a:lnTo>
                    <a:pt x="412225" y="8214"/>
                  </a:lnTo>
                  <a:lnTo>
                    <a:pt x="371281" y="1625"/>
                  </a:lnTo>
                  <a:lnTo>
                    <a:pt x="338137" y="0"/>
                  </a:lnTo>
                  <a:close/>
                </a:path>
              </a:pathLst>
            </a:custGeom>
            <a:solidFill>
              <a:srgbClr val="DA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4837" y="6624637"/>
              <a:ext cx="676275" cy="1019175"/>
            </a:xfrm>
            <a:custGeom>
              <a:avLst/>
              <a:gdLst/>
              <a:ahLst/>
              <a:cxnLst/>
              <a:rect l="l" t="t" r="r" b="b"/>
              <a:pathLst>
                <a:path w="676275" h="1019175">
                  <a:moveTo>
                    <a:pt x="0" y="681038"/>
                  </a:moveTo>
                  <a:lnTo>
                    <a:pt x="0" y="338138"/>
                  </a:lnTo>
                  <a:lnTo>
                    <a:pt x="101" y="329835"/>
                  </a:lnTo>
                  <a:lnTo>
                    <a:pt x="3659" y="288521"/>
                  </a:lnTo>
                  <a:lnTo>
                    <a:pt x="12248" y="247953"/>
                  </a:lnTo>
                  <a:lnTo>
                    <a:pt x="25737" y="208737"/>
                  </a:lnTo>
                  <a:lnTo>
                    <a:pt x="43930" y="171467"/>
                  </a:lnTo>
                  <a:lnTo>
                    <a:pt x="66541" y="136707"/>
                  </a:lnTo>
                  <a:lnTo>
                    <a:pt x="93241" y="104978"/>
                  </a:lnTo>
                  <a:lnTo>
                    <a:pt x="123626" y="76746"/>
                  </a:lnTo>
                  <a:lnTo>
                    <a:pt x="157235" y="52455"/>
                  </a:lnTo>
                  <a:lnTo>
                    <a:pt x="193564" y="32459"/>
                  </a:lnTo>
                  <a:lnTo>
                    <a:pt x="232067" y="17066"/>
                  </a:lnTo>
                  <a:lnTo>
                    <a:pt x="272172" y="6489"/>
                  </a:lnTo>
                  <a:lnTo>
                    <a:pt x="313265" y="916"/>
                  </a:lnTo>
                  <a:lnTo>
                    <a:pt x="338137" y="0"/>
                  </a:lnTo>
                  <a:lnTo>
                    <a:pt x="346437" y="102"/>
                  </a:lnTo>
                  <a:lnTo>
                    <a:pt x="387751" y="3657"/>
                  </a:lnTo>
                  <a:lnTo>
                    <a:pt x="428321" y="12243"/>
                  </a:lnTo>
                  <a:lnTo>
                    <a:pt x="467539" y="25742"/>
                  </a:lnTo>
                  <a:lnTo>
                    <a:pt x="504806" y="43929"/>
                  </a:lnTo>
                  <a:lnTo>
                    <a:pt x="539567" y="66541"/>
                  </a:lnTo>
                  <a:lnTo>
                    <a:pt x="571295" y="93241"/>
                  </a:lnTo>
                  <a:lnTo>
                    <a:pt x="599520" y="123621"/>
                  </a:lnTo>
                  <a:lnTo>
                    <a:pt x="623815" y="157237"/>
                  </a:lnTo>
                  <a:lnTo>
                    <a:pt x="643810" y="193562"/>
                  </a:lnTo>
                  <a:lnTo>
                    <a:pt x="659207" y="232064"/>
                  </a:lnTo>
                  <a:lnTo>
                    <a:pt x="669772" y="272167"/>
                  </a:lnTo>
                  <a:lnTo>
                    <a:pt x="675358" y="313263"/>
                  </a:lnTo>
                  <a:lnTo>
                    <a:pt x="676275" y="338138"/>
                  </a:lnTo>
                  <a:lnTo>
                    <a:pt x="676275" y="681038"/>
                  </a:lnTo>
                  <a:lnTo>
                    <a:pt x="673732" y="722429"/>
                  </a:lnTo>
                  <a:lnTo>
                    <a:pt x="666139" y="763195"/>
                  </a:lnTo>
                  <a:lnTo>
                    <a:pt x="653618" y="802727"/>
                  </a:lnTo>
                  <a:lnTo>
                    <a:pt x="636350" y="840433"/>
                  </a:lnTo>
                  <a:lnTo>
                    <a:pt x="614593" y="875739"/>
                  </a:lnTo>
                  <a:lnTo>
                    <a:pt x="588680" y="908113"/>
                  </a:lnTo>
                  <a:lnTo>
                    <a:pt x="559001" y="937075"/>
                  </a:lnTo>
                  <a:lnTo>
                    <a:pt x="525998" y="962185"/>
                  </a:lnTo>
                  <a:lnTo>
                    <a:pt x="490165" y="983068"/>
                  </a:lnTo>
                  <a:lnTo>
                    <a:pt x="452052" y="999407"/>
                  </a:lnTo>
                  <a:lnTo>
                    <a:pt x="412225" y="1010957"/>
                  </a:lnTo>
                  <a:lnTo>
                    <a:pt x="371281" y="1017544"/>
                  </a:lnTo>
                  <a:lnTo>
                    <a:pt x="338137" y="1019176"/>
                  </a:lnTo>
                  <a:lnTo>
                    <a:pt x="329837" y="1019073"/>
                  </a:lnTo>
                  <a:lnTo>
                    <a:pt x="288523" y="1015512"/>
                  </a:lnTo>
                  <a:lnTo>
                    <a:pt x="247953" y="1006927"/>
                  </a:lnTo>
                  <a:lnTo>
                    <a:pt x="208735" y="993433"/>
                  </a:lnTo>
                  <a:lnTo>
                    <a:pt x="171468" y="975243"/>
                  </a:lnTo>
                  <a:lnTo>
                    <a:pt x="136707" y="952630"/>
                  </a:lnTo>
                  <a:lnTo>
                    <a:pt x="104979" y="925932"/>
                  </a:lnTo>
                  <a:lnTo>
                    <a:pt x="76756" y="895549"/>
                  </a:lnTo>
                  <a:lnTo>
                    <a:pt x="52459" y="861936"/>
                  </a:lnTo>
                  <a:lnTo>
                    <a:pt x="32464" y="825606"/>
                  </a:lnTo>
                  <a:lnTo>
                    <a:pt x="17067" y="787106"/>
                  </a:lnTo>
                  <a:lnTo>
                    <a:pt x="6498" y="747003"/>
                  </a:lnTo>
                  <a:lnTo>
                    <a:pt x="914" y="705908"/>
                  </a:lnTo>
                  <a:lnTo>
                    <a:pt x="0" y="681038"/>
                  </a:lnTo>
                  <a:close/>
                </a:path>
              </a:pathLst>
            </a:custGeom>
            <a:ln w="952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54075" y="6950076"/>
            <a:ext cx="18542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262424"/>
                </a:solidFill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44625" y="6773864"/>
            <a:ext cx="748855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5" dirty="0">
                <a:solidFill>
                  <a:srgbClr val="262424"/>
                </a:solidFill>
                <a:latin typeface="Tahoma"/>
                <a:cs typeface="Tahoma"/>
              </a:rPr>
              <a:t>Notification</a:t>
            </a:r>
            <a:r>
              <a:rPr sz="1650" b="1" spc="-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Service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Sends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transactional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emails,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SMS,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in-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app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notifications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bookings,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updates,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reminders.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Essential</a:t>
            </a:r>
            <a:r>
              <a:rPr spc="-320" dirty="0"/>
              <a:t> </a:t>
            </a:r>
            <a:r>
              <a:rPr spc="-135" dirty="0"/>
              <a:t>Supporting</a:t>
            </a:r>
            <a:r>
              <a:rPr spc="-320" dirty="0"/>
              <a:t> </a:t>
            </a:r>
            <a:r>
              <a:rPr spc="-6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358900"/>
            <a:ext cx="61944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Robust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infrastructure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components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that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enable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high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performance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resilience.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1819275"/>
            <a:ext cx="3295650" cy="2343150"/>
            <a:chOff x="600074" y="1819275"/>
            <a:chExt cx="3295650" cy="2343150"/>
          </a:xfrm>
        </p:grpSpPr>
        <p:sp>
          <p:nvSpPr>
            <p:cNvPr id="5" name="object 5"/>
            <p:cNvSpPr/>
            <p:nvPr/>
          </p:nvSpPr>
          <p:spPr>
            <a:xfrm>
              <a:off x="600062" y="2077300"/>
              <a:ext cx="3295650" cy="2085339"/>
            </a:xfrm>
            <a:custGeom>
              <a:avLst/>
              <a:gdLst/>
              <a:ahLst/>
              <a:cxnLst/>
              <a:rect l="l" t="t" r="r" b="b"/>
              <a:pathLst>
                <a:path w="3295650" h="2085339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19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2025129"/>
                  </a:lnTo>
                  <a:lnTo>
                    <a:pt x="3264090" y="2054517"/>
                  </a:lnTo>
                  <a:lnTo>
                    <a:pt x="3258299" y="2059330"/>
                  </a:lnTo>
                  <a:lnTo>
                    <a:pt x="3251377" y="2063076"/>
                  </a:lnTo>
                  <a:lnTo>
                    <a:pt x="3243821" y="2065324"/>
                  </a:lnTo>
                  <a:lnTo>
                    <a:pt x="3235642" y="2066086"/>
                  </a:lnTo>
                  <a:lnTo>
                    <a:pt x="60007" y="2066086"/>
                  </a:lnTo>
                  <a:lnTo>
                    <a:pt x="51841" y="2065324"/>
                  </a:lnTo>
                  <a:lnTo>
                    <a:pt x="44284" y="2063076"/>
                  </a:lnTo>
                  <a:lnTo>
                    <a:pt x="37363" y="2059330"/>
                  </a:lnTo>
                  <a:lnTo>
                    <a:pt x="31559" y="2054529"/>
                  </a:lnTo>
                  <a:lnTo>
                    <a:pt x="31051" y="2054085"/>
                  </a:lnTo>
                  <a:lnTo>
                    <a:pt x="25806" y="2047773"/>
                  </a:lnTo>
                  <a:lnTo>
                    <a:pt x="22059" y="2040851"/>
                  </a:lnTo>
                  <a:lnTo>
                    <a:pt x="19812" y="2033295"/>
                  </a:lnTo>
                  <a:lnTo>
                    <a:pt x="19050" y="20251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033079"/>
                  </a:lnTo>
                  <a:lnTo>
                    <a:pt x="1524" y="2040737"/>
                  </a:lnTo>
                  <a:lnTo>
                    <a:pt x="7620" y="2055444"/>
                  </a:lnTo>
                  <a:lnTo>
                    <a:pt x="11950" y="2061933"/>
                  </a:lnTo>
                  <a:lnTo>
                    <a:pt x="17805" y="2067788"/>
                  </a:lnTo>
                  <a:lnTo>
                    <a:pt x="23202" y="2073186"/>
                  </a:lnTo>
                  <a:lnTo>
                    <a:pt x="29692" y="2077516"/>
                  </a:lnTo>
                  <a:lnTo>
                    <a:pt x="44399" y="2083612"/>
                  </a:lnTo>
                  <a:lnTo>
                    <a:pt x="52057" y="2085136"/>
                  </a:lnTo>
                  <a:lnTo>
                    <a:pt x="3243605" y="2085136"/>
                  </a:lnTo>
                  <a:lnTo>
                    <a:pt x="3251250" y="2083612"/>
                  </a:lnTo>
                  <a:lnTo>
                    <a:pt x="3265957" y="2077516"/>
                  </a:lnTo>
                  <a:lnTo>
                    <a:pt x="3272447" y="2073186"/>
                  </a:lnTo>
                  <a:lnTo>
                    <a:pt x="3277603" y="2068029"/>
                  </a:lnTo>
                  <a:lnTo>
                    <a:pt x="3278086" y="2067547"/>
                  </a:lnTo>
                  <a:lnTo>
                    <a:pt x="3283699" y="2061933"/>
                  </a:lnTo>
                  <a:lnTo>
                    <a:pt x="3288030" y="2055444"/>
                  </a:lnTo>
                  <a:lnTo>
                    <a:pt x="3294088" y="2040851"/>
                  </a:lnTo>
                  <a:lnTo>
                    <a:pt x="3295612" y="2033295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75" y="1819275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390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39" y="48018"/>
                  </a:lnTo>
                  <a:lnTo>
                    <a:pt x="1460017" y="81280"/>
                  </a:lnTo>
                  <a:lnTo>
                    <a:pt x="1429308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71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8605" y="1967155"/>
              <a:ext cx="214715" cy="21470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7875" y="2487612"/>
            <a:ext cx="293497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262424"/>
                </a:solidFill>
                <a:latin typeface="Tahoma"/>
                <a:cs typeface="Tahoma"/>
              </a:rPr>
              <a:t>Redis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262424"/>
                </a:solidFill>
                <a:latin typeface="Tahoma"/>
                <a:cs typeface="Tahoma"/>
              </a:rPr>
              <a:t>Cache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High-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speed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in-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memory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store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for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frequently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Verdana"/>
                <a:cs typeface="Verdana"/>
              </a:rPr>
              <a:t>accessed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data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like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seat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availability,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reducing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database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load.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4" y="1819275"/>
            <a:ext cx="3295650" cy="2343150"/>
            <a:chOff x="4067174" y="1819275"/>
            <a:chExt cx="3295650" cy="2343150"/>
          </a:xfrm>
        </p:grpSpPr>
        <p:sp>
          <p:nvSpPr>
            <p:cNvPr id="10" name="object 10"/>
            <p:cNvSpPr/>
            <p:nvPr/>
          </p:nvSpPr>
          <p:spPr>
            <a:xfrm>
              <a:off x="4067162" y="2077300"/>
              <a:ext cx="3295650" cy="2085339"/>
            </a:xfrm>
            <a:custGeom>
              <a:avLst/>
              <a:gdLst/>
              <a:ahLst/>
              <a:cxnLst/>
              <a:rect l="l" t="t" r="r" b="b"/>
              <a:pathLst>
                <a:path w="3295650" h="2085339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2025129"/>
                  </a:lnTo>
                  <a:lnTo>
                    <a:pt x="3264090" y="2054517"/>
                  </a:lnTo>
                  <a:lnTo>
                    <a:pt x="3258299" y="2059330"/>
                  </a:lnTo>
                  <a:lnTo>
                    <a:pt x="3251377" y="2063076"/>
                  </a:lnTo>
                  <a:lnTo>
                    <a:pt x="3243821" y="2065324"/>
                  </a:lnTo>
                  <a:lnTo>
                    <a:pt x="3235642" y="2066086"/>
                  </a:lnTo>
                  <a:lnTo>
                    <a:pt x="60007" y="2066086"/>
                  </a:lnTo>
                  <a:lnTo>
                    <a:pt x="51841" y="2065324"/>
                  </a:lnTo>
                  <a:lnTo>
                    <a:pt x="44284" y="2063076"/>
                  </a:lnTo>
                  <a:lnTo>
                    <a:pt x="37363" y="2059330"/>
                  </a:lnTo>
                  <a:lnTo>
                    <a:pt x="31559" y="2054529"/>
                  </a:lnTo>
                  <a:lnTo>
                    <a:pt x="31051" y="2054085"/>
                  </a:lnTo>
                  <a:lnTo>
                    <a:pt x="25806" y="2047773"/>
                  </a:lnTo>
                  <a:lnTo>
                    <a:pt x="22059" y="2040851"/>
                  </a:lnTo>
                  <a:lnTo>
                    <a:pt x="19812" y="2033295"/>
                  </a:lnTo>
                  <a:lnTo>
                    <a:pt x="19050" y="20251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033079"/>
                  </a:lnTo>
                  <a:lnTo>
                    <a:pt x="1524" y="2040737"/>
                  </a:lnTo>
                  <a:lnTo>
                    <a:pt x="7607" y="2055444"/>
                  </a:lnTo>
                  <a:lnTo>
                    <a:pt x="11950" y="2061933"/>
                  </a:lnTo>
                  <a:lnTo>
                    <a:pt x="17576" y="2067560"/>
                  </a:lnTo>
                  <a:lnTo>
                    <a:pt x="23202" y="2073186"/>
                  </a:lnTo>
                  <a:lnTo>
                    <a:pt x="29692" y="2077516"/>
                  </a:lnTo>
                  <a:lnTo>
                    <a:pt x="44399" y="2083612"/>
                  </a:lnTo>
                  <a:lnTo>
                    <a:pt x="52044" y="2085136"/>
                  </a:lnTo>
                  <a:lnTo>
                    <a:pt x="3243605" y="2085136"/>
                  </a:lnTo>
                  <a:lnTo>
                    <a:pt x="3251250" y="2083612"/>
                  </a:lnTo>
                  <a:lnTo>
                    <a:pt x="3265957" y="2077516"/>
                  </a:lnTo>
                  <a:lnTo>
                    <a:pt x="3272447" y="2073186"/>
                  </a:lnTo>
                  <a:lnTo>
                    <a:pt x="3277603" y="2068029"/>
                  </a:lnTo>
                  <a:lnTo>
                    <a:pt x="3278073" y="2067560"/>
                  </a:lnTo>
                  <a:lnTo>
                    <a:pt x="3283699" y="2061933"/>
                  </a:lnTo>
                  <a:lnTo>
                    <a:pt x="3288030" y="2055444"/>
                  </a:lnTo>
                  <a:lnTo>
                    <a:pt x="3294088" y="2040851"/>
                  </a:lnTo>
                  <a:lnTo>
                    <a:pt x="3295612" y="2033295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7175" y="1819275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54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74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17" y="26390"/>
                  </a:lnTo>
                  <a:lnTo>
                    <a:pt x="1714411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26" y="48018"/>
                  </a:lnTo>
                  <a:lnTo>
                    <a:pt x="1460017" y="81280"/>
                  </a:lnTo>
                  <a:lnTo>
                    <a:pt x="1429296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70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71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62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5666" y="1976972"/>
              <a:ext cx="214945" cy="19514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44975" y="2487612"/>
            <a:ext cx="2803525" cy="144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262424"/>
                </a:solidFill>
                <a:latin typeface="Tahoma"/>
                <a:cs typeface="Tahoma"/>
              </a:rPr>
              <a:t>Kafka/SQS</a:t>
            </a:r>
            <a:r>
              <a:rPr sz="1650" b="1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Queues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Asynchronous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message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brokers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for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reliable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communication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between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services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handling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spikes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in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traffic.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34274" y="1819275"/>
            <a:ext cx="3295650" cy="2343150"/>
            <a:chOff x="7534274" y="1819275"/>
            <a:chExt cx="3295650" cy="2343150"/>
          </a:xfrm>
        </p:grpSpPr>
        <p:sp>
          <p:nvSpPr>
            <p:cNvPr id="15" name="object 15"/>
            <p:cNvSpPr/>
            <p:nvPr/>
          </p:nvSpPr>
          <p:spPr>
            <a:xfrm>
              <a:off x="7534262" y="2077300"/>
              <a:ext cx="3295650" cy="2085339"/>
            </a:xfrm>
            <a:custGeom>
              <a:avLst/>
              <a:gdLst/>
              <a:ahLst/>
              <a:cxnLst/>
              <a:rect l="l" t="t" r="r" b="b"/>
              <a:pathLst>
                <a:path w="3295650" h="2085339">
                  <a:moveTo>
                    <a:pt x="3295650" y="75361"/>
                  </a:moveTo>
                  <a:lnTo>
                    <a:pt x="3282823" y="33020"/>
                  </a:lnTo>
                  <a:lnTo>
                    <a:pt x="3248609" y="4965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17" y="8826"/>
                  </a:lnTo>
                  <a:lnTo>
                    <a:pt x="3272244" y="46202"/>
                  </a:lnTo>
                  <a:lnTo>
                    <a:pt x="3276600" y="75361"/>
                  </a:lnTo>
                  <a:lnTo>
                    <a:pt x="3276600" y="2025129"/>
                  </a:lnTo>
                  <a:lnTo>
                    <a:pt x="3264090" y="2054517"/>
                  </a:lnTo>
                  <a:lnTo>
                    <a:pt x="3258299" y="2059330"/>
                  </a:lnTo>
                  <a:lnTo>
                    <a:pt x="3251377" y="2063076"/>
                  </a:lnTo>
                  <a:lnTo>
                    <a:pt x="3243821" y="2065324"/>
                  </a:lnTo>
                  <a:lnTo>
                    <a:pt x="3235642" y="2066086"/>
                  </a:lnTo>
                  <a:lnTo>
                    <a:pt x="60007" y="2066086"/>
                  </a:lnTo>
                  <a:lnTo>
                    <a:pt x="51841" y="2065324"/>
                  </a:lnTo>
                  <a:lnTo>
                    <a:pt x="44284" y="2063076"/>
                  </a:lnTo>
                  <a:lnTo>
                    <a:pt x="37363" y="2059330"/>
                  </a:lnTo>
                  <a:lnTo>
                    <a:pt x="31559" y="2054529"/>
                  </a:lnTo>
                  <a:lnTo>
                    <a:pt x="31051" y="2054085"/>
                  </a:lnTo>
                  <a:lnTo>
                    <a:pt x="25806" y="2047773"/>
                  </a:lnTo>
                  <a:lnTo>
                    <a:pt x="22059" y="2040851"/>
                  </a:lnTo>
                  <a:lnTo>
                    <a:pt x="19812" y="2033295"/>
                  </a:lnTo>
                  <a:lnTo>
                    <a:pt x="19050" y="20251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033079"/>
                  </a:lnTo>
                  <a:lnTo>
                    <a:pt x="1524" y="2040737"/>
                  </a:lnTo>
                  <a:lnTo>
                    <a:pt x="7607" y="2055444"/>
                  </a:lnTo>
                  <a:lnTo>
                    <a:pt x="11950" y="2061933"/>
                  </a:lnTo>
                  <a:lnTo>
                    <a:pt x="17576" y="2067560"/>
                  </a:lnTo>
                  <a:lnTo>
                    <a:pt x="23202" y="2073186"/>
                  </a:lnTo>
                  <a:lnTo>
                    <a:pt x="29692" y="2077516"/>
                  </a:lnTo>
                  <a:lnTo>
                    <a:pt x="44399" y="2083612"/>
                  </a:lnTo>
                  <a:lnTo>
                    <a:pt x="52044" y="2085136"/>
                  </a:lnTo>
                  <a:lnTo>
                    <a:pt x="3243605" y="2085136"/>
                  </a:lnTo>
                  <a:lnTo>
                    <a:pt x="3251250" y="2083612"/>
                  </a:lnTo>
                  <a:lnTo>
                    <a:pt x="3265957" y="2077516"/>
                  </a:lnTo>
                  <a:lnTo>
                    <a:pt x="3272447" y="2073186"/>
                  </a:lnTo>
                  <a:lnTo>
                    <a:pt x="3277603" y="2068029"/>
                  </a:lnTo>
                  <a:lnTo>
                    <a:pt x="3278073" y="2067560"/>
                  </a:lnTo>
                  <a:lnTo>
                    <a:pt x="3283699" y="2061933"/>
                  </a:lnTo>
                  <a:lnTo>
                    <a:pt x="3288030" y="2055444"/>
                  </a:lnTo>
                  <a:lnTo>
                    <a:pt x="3294088" y="2040851"/>
                  </a:lnTo>
                  <a:lnTo>
                    <a:pt x="3295612" y="2033295"/>
                  </a:lnTo>
                  <a:lnTo>
                    <a:pt x="329565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34275" y="1819275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390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39" y="48018"/>
                  </a:lnTo>
                  <a:lnTo>
                    <a:pt x="1460017" y="81280"/>
                  </a:lnTo>
                  <a:lnTo>
                    <a:pt x="1429308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70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71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72656" y="1967095"/>
              <a:ext cx="214861" cy="21469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712075" y="2487612"/>
            <a:ext cx="2784475" cy="144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0" dirty="0">
                <a:solidFill>
                  <a:srgbClr val="262424"/>
                </a:solidFill>
                <a:latin typeface="Tahoma"/>
                <a:cs typeface="Tahoma"/>
              </a:rPr>
              <a:t>Sharded</a:t>
            </a:r>
            <a:r>
              <a:rPr sz="1650" b="1" spc="-1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70" dirty="0">
                <a:solidFill>
                  <a:srgbClr val="262424"/>
                </a:solidFill>
                <a:latin typeface="Tahoma"/>
                <a:cs typeface="Tahoma"/>
              </a:rPr>
              <a:t>SQL/NoSQL</a:t>
            </a:r>
            <a:r>
              <a:rPr sz="1650" b="1" spc="-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262424"/>
                </a:solidFill>
                <a:latin typeface="Tahoma"/>
                <a:cs typeface="Tahoma"/>
              </a:rPr>
              <a:t>DB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Scalable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highly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available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Verdana"/>
                <a:cs typeface="Verdana"/>
              </a:rPr>
              <a:t>data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storage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solution,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optimized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both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transactional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analytical workloads.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4" y="4333875"/>
            <a:ext cx="5029200" cy="1790700"/>
            <a:chOff x="600074" y="4333875"/>
            <a:chExt cx="5029200" cy="1790700"/>
          </a:xfrm>
        </p:grpSpPr>
        <p:sp>
          <p:nvSpPr>
            <p:cNvPr id="20" name="object 20"/>
            <p:cNvSpPr/>
            <p:nvPr/>
          </p:nvSpPr>
          <p:spPr>
            <a:xfrm>
              <a:off x="600062" y="4591900"/>
              <a:ext cx="5029200" cy="1532890"/>
            </a:xfrm>
            <a:custGeom>
              <a:avLst/>
              <a:gdLst/>
              <a:ahLst/>
              <a:cxnLst/>
              <a:rect l="l" t="t" r="r" b="b"/>
              <a:pathLst>
                <a:path w="5029200" h="1532889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69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1472666"/>
                  </a:lnTo>
                  <a:lnTo>
                    <a:pt x="4997640" y="1502067"/>
                  </a:lnTo>
                  <a:lnTo>
                    <a:pt x="4991849" y="1506880"/>
                  </a:lnTo>
                  <a:lnTo>
                    <a:pt x="4984928" y="1510626"/>
                  </a:lnTo>
                  <a:lnTo>
                    <a:pt x="4977371" y="1512874"/>
                  </a:lnTo>
                  <a:lnTo>
                    <a:pt x="4969192" y="1513624"/>
                  </a:lnTo>
                  <a:lnTo>
                    <a:pt x="60007" y="1513624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35"/>
                  </a:lnTo>
                  <a:lnTo>
                    <a:pt x="25806" y="1495323"/>
                  </a:lnTo>
                  <a:lnTo>
                    <a:pt x="22059" y="1488389"/>
                  </a:lnTo>
                  <a:lnTo>
                    <a:pt x="19812" y="1480845"/>
                  </a:lnTo>
                  <a:lnTo>
                    <a:pt x="19050" y="147266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29"/>
                  </a:lnTo>
                  <a:lnTo>
                    <a:pt x="1524" y="1488287"/>
                  </a:lnTo>
                  <a:lnTo>
                    <a:pt x="7620" y="1502994"/>
                  </a:lnTo>
                  <a:lnTo>
                    <a:pt x="11950" y="1509483"/>
                  </a:lnTo>
                  <a:lnTo>
                    <a:pt x="18059" y="1515579"/>
                  </a:lnTo>
                  <a:lnTo>
                    <a:pt x="23202" y="1520723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57" y="1532674"/>
                  </a:lnTo>
                  <a:lnTo>
                    <a:pt x="4977155" y="1532674"/>
                  </a:lnTo>
                  <a:lnTo>
                    <a:pt x="4984801" y="1531162"/>
                  </a:lnTo>
                  <a:lnTo>
                    <a:pt x="4999507" y="1525066"/>
                  </a:lnTo>
                  <a:lnTo>
                    <a:pt x="5005997" y="1520723"/>
                  </a:lnTo>
                  <a:lnTo>
                    <a:pt x="5011140" y="1515579"/>
                  </a:lnTo>
                  <a:lnTo>
                    <a:pt x="5017249" y="1509483"/>
                  </a:lnTo>
                  <a:lnTo>
                    <a:pt x="5021580" y="1502994"/>
                  </a:lnTo>
                  <a:lnTo>
                    <a:pt x="5027638" y="1488389"/>
                  </a:lnTo>
                  <a:lnTo>
                    <a:pt x="5029162" y="148084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75" y="4333874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04" y="258483"/>
                  </a:lnTo>
                  <a:lnTo>
                    <a:pt x="4977041" y="238506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83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35"/>
                  </a:lnTo>
                  <a:lnTo>
                    <a:pt x="2628404" y="26390"/>
                  </a:lnTo>
                  <a:lnTo>
                    <a:pt x="2581198" y="8623"/>
                  </a:lnTo>
                  <a:lnTo>
                    <a:pt x="2531427" y="406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54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297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37" y="314325"/>
                  </a:lnTo>
                  <a:lnTo>
                    <a:pt x="2263991" y="315607"/>
                  </a:lnTo>
                  <a:lnTo>
                    <a:pt x="2280208" y="363372"/>
                  </a:lnTo>
                  <a:lnTo>
                    <a:pt x="2305443" y="407047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71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14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5380" y="4481742"/>
              <a:ext cx="214715" cy="2147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77875" y="5002212"/>
            <a:ext cx="464820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5" dirty="0">
                <a:solidFill>
                  <a:srgbClr val="262424"/>
                </a:solidFill>
                <a:latin typeface="Tahoma"/>
                <a:cs typeface="Tahoma"/>
              </a:rPr>
              <a:t>Load</a:t>
            </a:r>
            <a:r>
              <a:rPr sz="1650" b="1" spc="-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50" dirty="0">
                <a:solidFill>
                  <a:srgbClr val="262424"/>
                </a:solidFill>
                <a:latin typeface="Tahoma"/>
                <a:cs typeface="Tahoma"/>
              </a:rPr>
              <a:t>Balancer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262424"/>
                </a:solidFill>
                <a:latin typeface="Tahoma"/>
                <a:cs typeface="Tahoma"/>
              </a:rPr>
              <a:t>(LB)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Distributes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incoming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network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traffic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across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multiple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62424"/>
                </a:solidFill>
                <a:latin typeface="Verdana"/>
                <a:cs typeface="Verdana"/>
              </a:rPr>
              <a:t>servers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to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ensure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optimal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resource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utilization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prevent</a:t>
            </a:r>
            <a:r>
              <a:rPr sz="135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62424"/>
                </a:solidFill>
                <a:latin typeface="Verdana"/>
                <a:cs typeface="Verdana"/>
              </a:rPr>
              <a:t>overload.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00712" y="4333874"/>
            <a:ext cx="5029213" cy="1790916"/>
            <a:chOff x="5800712" y="4333874"/>
            <a:chExt cx="5029213" cy="1790916"/>
          </a:xfrm>
        </p:grpSpPr>
        <p:sp>
          <p:nvSpPr>
            <p:cNvPr id="25" name="object 25"/>
            <p:cNvSpPr/>
            <p:nvPr/>
          </p:nvSpPr>
          <p:spPr>
            <a:xfrm>
              <a:off x="5800712" y="4591900"/>
              <a:ext cx="5029200" cy="1532890"/>
            </a:xfrm>
            <a:custGeom>
              <a:avLst/>
              <a:gdLst/>
              <a:ahLst/>
              <a:cxnLst/>
              <a:rect l="l" t="t" r="r" b="b"/>
              <a:pathLst>
                <a:path w="5029200" h="1532889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1472666"/>
                  </a:lnTo>
                  <a:lnTo>
                    <a:pt x="4997640" y="1502067"/>
                  </a:lnTo>
                  <a:lnTo>
                    <a:pt x="4991849" y="1506880"/>
                  </a:lnTo>
                  <a:lnTo>
                    <a:pt x="4984928" y="1510626"/>
                  </a:lnTo>
                  <a:lnTo>
                    <a:pt x="4977371" y="1512874"/>
                  </a:lnTo>
                  <a:lnTo>
                    <a:pt x="4969192" y="1513624"/>
                  </a:lnTo>
                  <a:lnTo>
                    <a:pt x="60007" y="1513624"/>
                  </a:lnTo>
                  <a:lnTo>
                    <a:pt x="51841" y="1512874"/>
                  </a:lnTo>
                  <a:lnTo>
                    <a:pt x="44284" y="1510626"/>
                  </a:lnTo>
                  <a:lnTo>
                    <a:pt x="37363" y="1506880"/>
                  </a:lnTo>
                  <a:lnTo>
                    <a:pt x="31559" y="1502079"/>
                  </a:lnTo>
                  <a:lnTo>
                    <a:pt x="31051" y="1501635"/>
                  </a:lnTo>
                  <a:lnTo>
                    <a:pt x="25806" y="1495323"/>
                  </a:lnTo>
                  <a:lnTo>
                    <a:pt x="22059" y="1488389"/>
                  </a:lnTo>
                  <a:lnTo>
                    <a:pt x="19812" y="1480845"/>
                  </a:lnTo>
                  <a:lnTo>
                    <a:pt x="19050" y="147266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0629"/>
                  </a:lnTo>
                  <a:lnTo>
                    <a:pt x="1524" y="1488287"/>
                  </a:lnTo>
                  <a:lnTo>
                    <a:pt x="7607" y="1502994"/>
                  </a:lnTo>
                  <a:lnTo>
                    <a:pt x="11950" y="1509483"/>
                  </a:lnTo>
                  <a:lnTo>
                    <a:pt x="18059" y="1515579"/>
                  </a:lnTo>
                  <a:lnTo>
                    <a:pt x="23202" y="1520723"/>
                  </a:lnTo>
                  <a:lnTo>
                    <a:pt x="29692" y="1525066"/>
                  </a:lnTo>
                  <a:lnTo>
                    <a:pt x="44399" y="1531162"/>
                  </a:lnTo>
                  <a:lnTo>
                    <a:pt x="52044" y="1532674"/>
                  </a:lnTo>
                  <a:lnTo>
                    <a:pt x="4977155" y="1532674"/>
                  </a:lnTo>
                  <a:lnTo>
                    <a:pt x="4984801" y="1531162"/>
                  </a:lnTo>
                  <a:lnTo>
                    <a:pt x="4999507" y="1525066"/>
                  </a:lnTo>
                  <a:lnTo>
                    <a:pt x="5005997" y="1520723"/>
                  </a:lnTo>
                  <a:lnTo>
                    <a:pt x="5011140" y="1515579"/>
                  </a:lnTo>
                  <a:lnTo>
                    <a:pt x="5011623" y="1515110"/>
                  </a:lnTo>
                  <a:lnTo>
                    <a:pt x="5017249" y="1509483"/>
                  </a:lnTo>
                  <a:lnTo>
                    <a:pt x="5021580" y="1502994"/>
                  </a:lnTo>
                  <a:lnTo>
                    <a:pt x="5027638" y="1488389"/>
                  </a:lnTo>
                  <a:lnTo>
                    <a:pt x="5029162" y="148084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00725" y="4333874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17" y="258483"/>
                  </a:lnTo>
                  <a:lnTo>
                    <a:pt x="4977041" y="238506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83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35"/>
                  </a:lnTo>
                  <a:lnTo>
                    <a:pt x="2628404" y="26390"/>
                  </a:lnTo>
                  <a:lnTo>
                    <a:pt x="2581198" y="8623"/>
                  </a:lnTo>
                  <a:lnTo>
                    <a:pt x="2531427" y="406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67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297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37" y="314325"/>
                  </a:lnTo>
                  <a:lnTo>
                    <a:pt x="2264003" y="315607"/>
                  </a:lnTo>
                  <a:lnTo>
                    <a:pt x="2280221" y="363372"/>
                  </a:lnTo>
                  <a:lnTo>
                    <a:pt x="2305443" y="407047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71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14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6386" y="4481738"/>
              <a:ext cx="174004" cy="21477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978525" y="5002212"/>
            <a:ext cx="444182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10" dirty="0">
                <a:solidFill>
                  <a:srgbClr val="262424"/>
                </a:solidFill>
                <a:latin typeface="Tahoma"/>
                <a:cs typeface="Tahoma"/>
              </a:rPr>
              <a:t>API</a:t>
            </a:r>
            <a:r>
              <a:rPr sz="1650" b="1" spc="-1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Gateway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75" dirty="0">
                <a:solidFill>
                  <a:srgbClr val="262424"/>
                </a:solidFill>
                <a:latin typeface="Verdana"/>
                <a:cs typeface="Verdana"/>
              </a:rPr>
              <a:t>Single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entry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point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all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client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requests,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handling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routing, </a:t>
            </a:r>
            <a:r>
              <a:rPr sz="1350" spc="-90" dirty="0">
                <a:solidFill>
                  <a:srgbClr val="262424"/>
                </a:solidFill>
                <a:latin typeface="Verdana"/>
                <a:cs typeface="Verdana"/>
              </a:rPr>
              <a:t>authentication,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62424"/>
                </a:solidFill>
                <a:latin typeface="Verdana"/>
                <a:cs typeface="Verdana"/>
              </a:rPr>
              <a:t>rate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Verdana"/>
                <a:cs typeface="Verdana"/>
              </a:rPr>
              <a:t>limiting.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597150"/>
            <a:ext cx="44196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Seat</a:t>
            </a:r>
            <a:r>
              <a:rPr spc="-325" dirty="0"/>
              <a:t> </a:t>
            </a:r>
            <a:r>
              <a:rPr spc="-145" dirty="0"/>
              <a:t>Reservation</a:t>
            </a:r>
            <a:r>
              <a:rPr spc="-325" dirty="0"/>
              <a:t> </a:t>
            </a:r>
            <a:r>
              <a:rPr spc="-80" dirty="0"/>
              <a:t>Flow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5" y="3416300"/>
            <a:ext cx="63982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step-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by-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step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62424"/>
                </a:solidFill>
                <a:latin typeface="Verdana"/>
                <a:cs typeface="Verdana"/>
              </a:rPr>
              <a:t>process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62424"/>
                </a:solidFill>
                <a:latin typeface="Verdana"/>
                <a:cs typeface="Verdana"/>
              </a:rPr>
              <a:t>outlining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how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seats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62424"/>
                </a:solidFill>
                <a:latin typeface="Verdana"/>
                <a:cs typeface="Verdana"/>
              </a:rPr>
              <a:t>are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62424"/>
                </a:solidFill>
                <a:latin typeface="Verdana"/>
                <a:cs typeface="Verdana"/>
              </a:rPr>
              <a:t>securely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62424"/>
                </a:solidFill>
                <a:latin typeface="Verdana"/>
                <a:cs typeface="Verdana"/>
              </a:rPr>
              <a:t>reserved</a:t>
            </a:r>
            <a:r>
              <a:rPr sz="1350" spc="-11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62424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62424"/>
                </a:solidFill>
                <a:latin typeface="Verdana"/>
                <a:cs typeface="Verdana"/>
              </a:rPr>
              <a:t>committed.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82304" y="5517756"/>
            <a:ext cx="7337425" cy="2461260"/>
            <a:chOff x="2182304" y="5517756"/>
            <a:chExt cx="7337425" cy="2461260"/>
          </a:xfrm>
        </p:grpSpPr>
        <p:sp>
          <p:nvSpPr>
            <p:cNvPr id="6" name="object 6"/>
            <p:cNvSpPr/>
            <p:nvPr/>
          </p:nvSpPr>
          <p:spPr>
            <a:xfrm>
              <a:off x="2187702" y="5523153"/>
              <a:ext cx="1960245" cy="1264285"/>
            </a:xfrm>
            <a:custGeom>
              <a:avLst/>
              <a:gdLst/>
              <a:ahLst/>
              <a:cxnLst/>
              <a:rect l="l" t="t" r="r" b="b"/>
              <a:pathLst>
                <a:path w="1960245" h="1264284">
                  <a:moveTo>
                    <a:pt x="1960206" y="0"/>
                  </a:moveTo>
                  <a:lnTo>
                    <a:pt x="0" y="0"/>
                  </a:lnTo>
                  <a:lnTo>
                    <a:pt x="0" y="1263992"/>
                  </a:lnTo>
                  <a:lnTo>
                    <a:pt x="1614792" y="1263992"/>
                  </a:lnTo>
                  <a:lnTo>
                    <a:pt x="1614792" y="311099"/>
                  </a:lnTo>
                  <a:lnTo>
                    <a:pt x="1787385" y="154012"/>
                  </a:lnTo>
                  <a:lnTo>
                    <a:pt x="1960206" y="0"/>
                  </a:lnTo>
                  <a:close/>
                </a:path>
              </a:pathLst>
            </a:custGeom>
            <a:solidFill>
              <a:srgbClr val="1D1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7702" y="5523153"/>
              <a:ext cx="1960245" cy="1264285"/>
            </a:xfrm>
            <a:custGeom>
              <a:avLst/>
              <a:gdLst/>
              <a:ahLst/>
              <a:cxnLst/>
              <a:rect l="l" t="t" r="r" b="b"/>
              <a:pathLst>
                <a:path w="1960245" h="1264284">
                  <a:moveTo>
                    <a:pt x="0" y="0"/>
                  </a:moveTo>
                  <a:lnTo>
                    <a:pt x="1960206" y="0"/>
                  </a:lnTo>
                  <a:lnTo>
                    <a:pt x="1787385" y="154012"/>
                  </a:lnTo>
                  <a:lnTo>
                    <a:pt x="1614792" y="311099"/>
                  </a:lnTo>
                  <a:lnTo>
                    <a:pt x="1614792" y="1264005"/>
                  </a:lnTo>
                  <a:lnTo>
                    <a:pt x="0" y="1264005"/>
                  </a:lnTo>
                  <a:lnTo>
                    <a:pt x="0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93756" y="5523153"/>
              <a:ext cx="347980" cy="312420"/>
            </a:xfrm>
            <a:custGeom>
              <a:avLst/>
              <a:gdLst/>
              <a:ahLst/>
              <a:cxnLst/>
              <a:rect l="l" t="t" r="r" b="b"/>
              <a:pathLst>
                <a:path w="347979" h="312420">
                  <a:moveTo>
                    <a:pt x="347802" y="0"/>
                  </a:moveTo>
                  <a:lnTo>
                    <a:pt x="0" y="312013"/>
                  </a:lnTo>
                  <a:lnTo>
                    <a:pt x="347802" y="312013"/>
                  </a:lnTo>
                  <a:lnTo>
                    <a:pt x="347802" y="0"/>
                  </a:lnTo>
                  <a:close/>
                </a:path>
              </a:pathLst>
            </a:custGeom>
            <a:solidFill>
              <a:srgbClr val="2529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93756" y="5523153"/>
              <a:ext cx="347980" cy="312420"/>
            </a:xfrm>
            <a:custGeom>
              <a:avLst/>
              <a:gdLst/>
              <a:ahLst/>
              <a:cxnLst/>
              <a:rect l="l" t="t" r="r" b="b"/>
              <a:pathLst>
                <a:path w="347979" h="312420">
                  <a:moveTo>
                    <a:pt x="347802" y="312013"/>
                  </a:moveTo>
                  <a:lnTo>
                    <a:pt x="347802" y="0"/>
                  </a:lnTo>
                  <a:lnTo>
                    <a:pt x="0" y="312013"/>
                  </a:lnTo>
                  <a:lnTo>
                    <a:pt x="347802" y="312013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3756" y="5830049"/>
              <a:ext cx="1960245" cy="1264285"/>
            </a:xfrm>
            <a:custGeom>
              <a:avLst/>
              <a:gdLst/>
              <a:ahLst/>
              <a:cxnLst/>
              <a:rect l="l" t="t" r="r" b="b"/>
              <a:pathLst>
                <a:path w="1960245" h="1264284">
                  <a:moveTo>
                    <a:pt x="1960206" y="0"/>
                  </a:moveTo>
                  <a:lnTo>
                    <a:pt x="0" y="0"/>
                  </a:lnTo>
                  <a:lnTo>
                    <a:pt x="0" y="1263992"/>
                  </a:lnTo>
                  <a:lnTo>
                    <a:pt x="1614792" y="1263992"/>
                  </a:lnTo>
                  <a:lnTo>
                    <a:pt x="1614792" y="311099"/>
                  </a:lnTo>
                  <a:lnTo>
                    <a:pt x="1787385" y="154000"/>
                  </a:lnTo>
                  <a:lnTo>
                    <a:pt x="1960206" y="0"/>
                  </a:lnTo>
                  <a:close/>
                </a:path>
              </a:pathLst>
            </a:custGeom>
            <a:solidFill>
              <a:srgbClr val="2D3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93756" y="5830049"/>
              <a:ext cx="1960245" cy="1264285"/>
            </a:xfrm>
            <a:custGeom>
              <a:avLst/>
              <a:gdLst/>
              <a:ahLst/>
              <a:cxnLst/>
              <a:rect l="l" t="t" r="r" b="b"/>
              <a:pathLst>
                <a:path w="1960245" h="1264284">
                  <a:moveTo>
                    <a:pt x="0" y="0"/>
                  </a:moveTo>
                  <a:lnTo>
                    <a:pt x="1960206" y="0"/>
                  </a:lnTo>
                  <a:lnTo>
                    <a:pt x="1787385" y="154000"/>
                  </a:lnTo>
                  <a:lnTo>
                    <a:pt x="1614792" y="311099"/>
                  </a:lnTo>
                  <a:lnTo>
                    <a:pt x="1614792" y="1263992"/>
                  </a:lnTo>
                  <a:lnTo>
                    <a:pt x="0" y="1263992"/>
                  </a:lnTo>
                  <a:lnTo>
                    <a:pt x="0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99811" y="5830049"/>
              <a:ext cx="347980" cy="312420"/>
            </a:xfrm>
            <a:custGeom>
              <a:avLst/>
              <a:gdLst/>
              <a:ahLst/>
              <a:cxnLst/>
              <a:rect l="l" t="t" r="r" b="b"/>
              <a:pathLst>
                <a:path w="347979" h="312420">
                  <a:moveTo>
                    <a:pt x="347802" y="0"/>
                  </a:moveTo>
                  <a:lnTo>
                    <a:pt x="0" y="312000"/>
                  </a:lnTo>
                  <a:lnTo>
                    <a:pt x="347802" y="312000"/>
                  </a:lnTo>
                  <a:lnTo>
                    <a:pt x="347802" y="0"/>
                  </a:lnTo>
                  <a:close/>
                </a:path>
              </a:pathLst>
            </a:custGeom>
            <a:solidFill>
              <a:srgbClr val="343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99811" y="5830049"/>
              <a:ext cx="347980" cy="312420"/>
            </a:xfrm>
            <a:custGeom>
              <a:avLst/>
              <a:gdLst/>
              <a:ahLst/>
              <a:cxnLst/>
              <a:rect l="l" t="t" r="r" b="b"/>
              <a:pathLst>
                <a:path w="347979" h="312420">
                  <a:moveTo>
                    <a:pt x="347802" y="312000"/>
                  </a:moveTo>
                  <a:lnTo>
                    <a:pt x="347802" y="0"/>
                  </a:lnTo>
                  <a:lnTo>
                    <a:pt x="0" y="312000"/>
                  </a:lnTo>
                  <a:lnTo>
                    <a:pt x="347802" y="31200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99811" y="6136932"/>
              <a:ext cx="1960245" cy="1264285"/>
            </a:xfrm>
            <a:custGeom>
              <a:avLst/>
              <a:gdLst/>
              <a:ahLst/>
              <a:cxnLst/>
              <a:rect l="l" t="t" r="r" b="b"/>
              <a:pathLst>
                <a:path w="1960245" h="1264284">
                  <a:moveTo>
                    <a:pt x="1960206" y="0"/>
                  </a:moveTo>
                  <a:lnTo>
                    <a:pt x="0" y="0"/>
                  </a:lnTo>
                  <a:lnTo>
                    <a:pt x="0" y="1264005"/>
                  </a:lnTo>
                  <a:lnTo>
                    <a:pt x="1614792" y="1264005"/>
                  </a:lnTo>
                  <a:lnTo>
                    <a:pt x="1614792" y="311099"/>
                  </a:lnTo>
                  <a:lnTo>
                    <a:pt x="1787385" y="154012"/>
                  </a:lnTo>
                  <a:lnTo>
                    <a:pt x="1960206" y="0"/>
                  </a:lnTo>
                  <a:close/>
                </a:path>
              </a:pathLst>
            </a:custGeom>
            <a:solidFill>
              <a:srgbClr val="3C41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99811" y="6136932"/>
              <a:ext cx="1960245" cy="1264285"/>
            </a:xfrm>
            <a:custGeom>
              <a:avLst/>
              <a:gdLst/>
              <a:ahLst/>
              <a:cxnLst/>
              <a:rect l="l" t="t" r="r" b="b"/>
              <a:pathLst>
                <a:path w="1960245" h="1264284">
                  <a:moveTo>
                    <a:pt x="0" y="0"/>
                  </a:moveTo>
                  <a:lnTo>
                    <a:pt x="1960206" y="0"/>
                  </a:lnTo>
                  <a:lnTo>
                    <a:pt x="1787385" y="154012"/>
                  </a:lnTo>
                  <a:lnTo>
                    <a:pt x="1614805" y="311099"/>
                  </a:lnTo>
                  <a:lnTo>
                    <a:pt x="1614805" y="1264005"/>
                  </a:lnTo>
                  <a:lnTo>
                    <a:pt x="0" y="1264005"/>
                  </a:lnTo>
                  <a:lnTo>
                    <a:pt x="0" y="0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05866" y="6136932"/>
              <a:ext cx="347980" cy="312420"/>
            </a:xfrm>
            <a:custGeom>
              <a:avLst/>
              <a:gdLst/>
              <a:ahLst/>
              <a:cxnLst/>
              <a:rect l="l" t="t" r="r" b="b"/>
              <a:pathLst>
                <a:path w="347979" h="312420">
                  <a:moveTo>
                    <a:pt x="347802" y="0"/>
                  </a:moveTo>
                  <a:lnTo>
                    <a:pt x="0" y="312013"/>
                  </a:lnTo>
                  <a:lnTo>
                    <a:pt x="347802" y="312013"/>
                  </a:lnTo>
                  <a:lnTo>
                    <a:pt x="347802" y="0"/>
                  </a:lnTo>
                  <a:close/>
                </a:path>
              </a:pathLst>
            </a:custGeom>
            <a:solidFill>
              <a:srgbClr val="444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05866" y="6136932"/>
              <a:ext cx="347980" cy="312420"/>
            </a:xfrm>
            <a:custGeom>
              <a:avLst/>
              <a:gdLst/>
              <a:ahLst/>
              <a:cxnLst/>
              <a:rect l="l" t="t" r="r" b="b"/>
              <a:pathLst>
                <a:path w="347979" h="312420">
                  <a:moveTo>
                    <a:pt x="347802" y="312013"/>
                  </a:moveTo>
                  <a:lnTo>
                    <a:pt x="347802" y="0"/>
                  </a:lnTo>
                  <a:lnTo>
                    <a:pt x="0" y="312013"/>
                  </a:lnTo>
                  <a:lnTo>
                    <a:pt x="347802" y="312013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09866" y="6201435"/>
              <a:ext cx="2504440" cy="1772285"/>
            </a:xfrm>
            <a:custGeom>
              <a:avLst/>
              <a:gdLst/>
              <a:ahLst/>
              <a:cxnLst/>
              <a:rect l="l" t="t" r="r" b="b"/>
              <a:pathLst>
                <a:path w="2504440" h="1772284">
                  <a:moveTo>
                    <a:pt x="1874939" y="0"/>
                  </a:moveTo>
                  <a:lnTo>
                    <a:pt x="1874939" y="241198"/>
                  </a:lnTo>
                  <a:lnTo>
                    <a:pt x="0" y="241198"/>
                  </a:lnTo>
                  <a:lnTo>
                    <a:pt x="0" y="1505191"/>
                  </a:lnTo>
                  <a:lnTo>
                    <a:pt x="1874939" y="1505191"/>
                  </a:lnTo>
                  <a:lnTo>
                    <a:pt x="1874939" y="1771827"/>
                  </a:lnTo>
                  <a:lnTo>
                    <a:pt x="2504059" y="885913"/>
                  </a:lnTo>
                  <a:lnTo>
                    <a:pt x="1874939" y="0"/>
                  </a:lnTo>
                  <a:close/>
                </a:path>
              </a:pathLst>
            </a:custGeom>
            <a:solidFill>
              <a:srgbClr val="575D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09866" y="6201435"/>
              <a:ext cx="2504440" cy="1772285"/>
            </a:xfrm>
            <a:custGeom>
              <a:avLst/>
              <a:gdLst/>
              <a:ahLst/>
              <a:cxnLst/>
              <a:rect l="l" t="t" r="r" b="b"/>
              <a:pathLst>
                <a:path w="2504440" h="1772284">
                  <a:moveTo>
                    <a:pt x="2504059" y="885913"/>
                  </a:moveTo>
                  <a:lnTo>
                    <a:pt x="1874939" y="1771827"/>
                  </a:lnTo>
                  <a:lnTo>
                    <a:pt x="1874939" y="1505191"/>
                  </a:lnTo>
                  <a:lnTo>
                    <a:pt x="0" y="1505191"/>
                  </a:lnTo>
                  <a:lnTo>
                    <a:pt x="0" y="241198"/>
                  </a:lnTo>
                  <a:lnTo>
                    <a:pt x="1874939" y="241198"/>
                  </a:lnTo>
                  <a:lnTo>
                    <a:pt x="1874939" y="0"/>
                  </a:lnTo>
                  <a:lnTo>
                    <a:pt x="2504059" y="885913"/>
                  </a:lnTo>
                  <a:close/>
                </a:path>
              </a:pathLst>
            </a:custGeom>
            <a:ln w="10715">
              <a:solidFill>
                <a:srgbClr val="BFC1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83319" y="6156490"/>
              <a:ext cx="322580" cy="206375"/>
            </a:xfrm>
            <a:custGeom>
              <a:avLst/>
              <a:gdLst/>
              <a:ahLst/>
              <a:cxnLst/>
              <a:rect l="l" t="t" r="r" b="b"/>
              <a:pathLst>
                <a:path w="322580" h="206375">
                  <a:moveTo>
                    <a:pt x="2768" y="206362"/>
                  </a:moveTo>
                  <a:lnTo>
                    <a:pt x="990" y="201980"/>
                  </a:lnTo>
                  <a:lnTo>
                    <a:pt x="254" y="198488"/>
                  </a:lnTo>
                  <a:lnTo>
                    <a:pt x="0" y="183730"/>
                  </a:lnTo>
                  <a:lnTo>
                    <a:pt x="724" y="172978"/>
                  </a:lnTo>
                  <a:lnTo>
                    <a:pt x="9477" y="128024"/>
                  </a:lnTo>
                  <a:lnTo>
                    <a:pt x="27628" y="87840"/>
                  </a:lnTo>
                  <a:lnTo>
                    <a:pt x="52522" y="55756"/>
                  </a:lnTo>
                  <a:lnTo>
                    <a:pt x="84937" y="29873"/>
                  </a:lnTo>
                  <a:lnTo>
                    <a:pt x="123186" y="10975"/>
                  </a:lnTo>
                  <a:lnTo>
                    <a:pt x="164963" y="1610"/>
                  </a:lnTo>
                  <a:lnTo>
                    <a:pt x="206324" y="0"/>
                  </a:lnTo>
                  <a:lnTo>
                    <a:pt x="216524" y="772"/>
                  </a:lnTo>
                  <a:lnTo>
                    <a:pt x="257374" y="7982"/>
                  </a:lnTo>
                  <a:lnTo>
                    <a:pt x="296664" y="23936"/>
                  </a:lnTo>
                  <a:lnTo>
                    <a:pt x="313806" y="34555"/>
                  </a:lnTo>
                  <a:lnTo>
                    <a:pt x="322491" y="40665"/>
                  </a:lnTo>
                </a:path>
              </a:pathLst>
            </a:custGeom>
            <a:ln w="2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0201" y="6097417"/>
              <a:ext cx="141475" cy="8005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86100" y="6268783"/>
              <a:ext cx="430530" cy="105410"/>
            </a:xfrm>
            <a:custGeom>
              <a:avLst/>
              <a:gdLst/>
              <a:ahLst/>
              <a:cxnLst/>
              <a:rect l="l" t="t" r="r" b="b"/>
              <a:pathLst>
                <a:path w="430529" h="105410">
                  <a:moveTo>
                    <a:pt x="402590" y="25069"/>
                  </a:moveTo>
                  <a:lnTo>
                    <a:pt x="413715" y="34442"/>
                  </a:lnTo>
                </a:path>
                <a:path w="430529" h="105410">
                  <a:moveTo>
                    <a:pt x="402590" y="25069"/>
                  </a:moveTo>
                  <a:lnTo>
                    <a:pt x="399072" y="15875"/>
                  </a:lnTo>
                  <a:lnTo>
                    <a:pt x="399084" y="14643"/>
                  </a:lnTo>
                  <a:lnTo>
                    <a:pt x="414223" y="0"/>
                  </a:lnTo>
                  <a:lnTo>
                    <a:pt x="415201" y="38"/>
                  </a:lnTo>
                  <a:lnTo>
                    <a:pt x="430047" y="15176"/>
                  </a:lnTo>
                  <a:lnTo>
                    <a:pt x="429933" y="16624"/>
                  </a:lnTo>
                  <a:lnTo>
                    <a:pt x="425818" y="25895"/>
                  </a:lnTo>
                  <a:lnTo>
                    <a:pt x="414743" y="33743"/>
                  </a:lnTo>
                </a:path>
                <a:path w="430529" h="105410">
                  <a:moveTo>
                    <a:pt x="414693" y="60642"/>
                  </a:moveTo>
                  <a:lnTo>
                    <a:pt x="414743" y="35293"/>
                  </a:lnTo>
                </a:path>
                <a:path w="430529" h="105410">
                  <a:moveTo>
                    <a:pt x="286905" y="105067"/>
                  </a:moveTo>
                  <a:lnTo>
                    <a:pt x="11772" y="104038"/>
                  </a:lnTo>
                </a:path>
                <a:path w="430529" h="105410">
                  <a:moveTo>
                    <a:pt x="11772" y="104051"/>
                  </a:moveTo>
                  <a:lnTo>
                    <a:pt x="6553" y="102260"/>
                  </a:lnTo>
                  <a:lnTo>
                    <a:pt x="2616" y="98933"/>
                  </a:lnTo>
                  <a:lnTo>
                    <a:pt x="0" y="94068"/>
                  </a:lnTo>
                </a:path>
              </a:pathLst>
            </a:custGeom>
            <a:ln w="226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4611" y="5886127"/>
              <a:ext cx="246911" cy="24692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6026" y="6151582"/>
              <a:ext cx="210106" cy="2361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499597" y="6194653"/>
              <a:ext cx="511175" cy="498475"/>
            </a:xfrm>
            <a:custGeom>
              <a:avLst/>
              <a:gdLst/>
              <a:ahLst/>
              <a:cxnLst/>
              <a:rect l="l" t="t" r="r" b="b"/>
              <a:pathLst>
                <a:path w="511175" h="498475">
                  <a:moveTo>
                    <a:pt x="509143" y="335064"/>
                  </a:moveTo>
                  <a:lnTo>
                    <a:pt x="453547" y="324138"/>
                  </a:lnTo>
                  <a:lnTo>
                    <a:pt x="405080" y="323893"/>
                  </a:lnTo>
                  <a:lnTo>
                    <a:pt x="338239" y="323735"/>
                  </a:lnTo>
                  <a:lnTo>
                    <a:pt x="327050" y="324307"/>
                  </a:lnTo>
                  <a:lnTo>
                    <a:pt x="309029" y="364160"/>
                  </a:lnTo>
                  <a:lnTo>
                    <a:pt x="308838" y="379933"/>
                  </a:lnTo>
                </a:path>
                <a:path w="511175" h="498475">
                  <a:moveTo>
                    <a:pt x="5816" y="484886"/>
                  </a:moveTo>
                  <a:lnTo>
                    <a:pt x="3230" y="480573"/>
                  </a:lnTo>
                  <a:lnTo>
                    <a:pt x="1541" y="474748"/>
                  </a:lnTo>
                  <a:lnTo>
                    <a:pt x="535" y="465279"/>
                  </a:lnTo>
                  <a:lnTo>
                    <a:pt x="0" y="450037"/>
                  </a:lnTo>
                  <a:lnTo>
                    <a:pt x="315" y="441348"/>
                  </a:lnTo>
                  <a:lnTo>
                    <a:pt x="6948" y="396997"/>
                  </a:lnTo>
                  <a:lnTo>
                    <a:pt x="21070" y="360524"/>
                  </a:lnTo>
                  <a:lnTo>
                    <a:pt x="43268" y="327850"/>
                  </a:lnTo>
                  <a:lnTo>
                    <a:pt x="72508" y="301261"/>
                  </a:lnTo>
                  <a:lnTo>
                    <a:pt x="108785" y="280404"/>
                  </a:lnTo>
                  <a:lnTo>
                    <a:pt x="146136" y="268306"/>
                  </a:lnTo>
                  <a:lnTo>
                    <a:pt x="183454" y="263894"/>
                  </a:lnTo>
                  <a:lnTo>
                    <a:pt x="199021" y="263194"/>
                  </a:lnTo>
                </a:path>
                <a:path w="511175" h="498475">
                  <a:moveTo>
                    <a:pt x="308940" y="465836"/>
                  </a:moveTo>
                  <a:lnTo>
                    <a:pt x="333679" y="497852"/>
                  </a:lnTo>
                  <a:lnTo>
                    <a:pt x="346316" y="498043"/>
                  </a:lnTo>
                </a:path>
                <a:path w="511175" h="498475">
                  <a:moveTo>
                    <a:pt x="473240" y="265379"/>
                  </a:moveTo>
                  <a:lnTo>
                    <a:pt x="454723" y="229196"/>
                  </a:lnTo>
                  <a:lnTo>
                    <a:pt x="418058" y="212013"/>
                  </a:lnTo>
                  <a:lnTo>
                    <a:pt x="411861" y="211582"/>
                  </a:lnTo>
                  <a:lnTo>
                    <a:pt x="405536" y="211747"/>
                  </a:lnTo>
                  <a:lnTo>
                    <a:pt x="366344" y="228587"/>
                  </a:lnTo>
                  <a:lnTo>
                    <a:pt x="347637" y="262140"/>
                  </a:lnTo>
                  <a:lnTo>
                    <a:pt x="346786" y="273634"/>
                  </a:lnTo>
                </a:path>
                <a:path w="511175" h="498475">
                  <a:moveTo>
                    <a:pt x="346621" y="314312"/>
                  </a:moveTo>
                  <a:lnTo>
                    <a:pt x="346621" y="323659"/>
                  </a:lnTo>
                </a:path>
                <a:path w="511175" h="498475">
                  <a:moveTo>
                    <a:pt x="239471" y="263220"/>
                  </a:moveTo>
                  <a:lnTo>
                    <a:pt x="253485" y="264147"/>
                  </a:lnTo>
                  <a:lnTo>
                    <a:pt x="266844" y="265533"/>
                  </a:lnTo>
                  <a:lnTo>
                    <a:pt x="279524" y="267368"/>
                  </a:lnTo>
                  <a:lnTo>
                    <a:pt x="291503" y="269646"/>
                  </a:lnTo>
                  <a:lnTo>
                    <a:pt x="309156" y="274980"/>
                  </a:lnTo>
                </a:path>
                <a:path w="511175" h="498475">
                  <a:moveTo>
                    <a:pt x="342099" y="119748"/>
                  </a:moveTo>
                  <a:lnTo>
                    <a:pt x="342099" y="127609"/>
                  </a:lnTo>
                  <a:lnTo>
                    <a:pt x="341325" y="135394"/>
                  </a:lnTo>
                  <a:lnTo>
                    <a:pt x="339801" y="143103"/>
                  </a:lnTo>
                  <a:lnTo>
                    <a:pt x="338264" y="150825"/>
                  </a:lnTo>
                  <a:lnTo>
                    <a:pt x="335991" y="158305"/>
                  </a:lnTo>
                  <a:lnTo>
                    <a:pt x="332981" y="165569"/>
                  </a:lnTo>
                  <a:lnTo>
                    <a:pt x="329971" y="172834"/>
                  </a:lnTo>
                  <a:lnTo>
                    <a:pt x="326288" y="179743"/>
                  </a:lnTo>
                  <a:lnTo>
                    <a:pt x="321906" y="186270"/>
                  </a:lnTo>
                  <a:lnTo>
                    <a:pt x="317550" y="192811"/>
                  </a:lnTo>
                  <a:lnTo>
                    <a:pt x="312585" y="198856"/>
                  </a:lnTo>
                  <a:lnTo>
                    <a:pt x="307022" y="204419"/>
                  </a:lnTo>
                  <a:lnTo>
                    <a:pt x="301459" y="209981"/>
                  </a:lnTo>
                  <a:lnTo>
                    <a:pt x="295414" y="214947"/>
                  </a:lnTo>
                  <a:lnTo>
                    <a:pt x="288874" y="219316"/>
                  </a:lnTo>
                  <a:lnTo>
                    <a:pt x="282333" y="223685"/>
                  </a:lnTo>
                  <a:lnTo>
                    <a:pt x="245706" y="237197"/>
                  </a:lnTo>
                  <a:lnTo>
                    <a:pt x="237998" y="238734"/>
                  </a:lnTo>
                  <a:lnTo>
                    <a:pt x="230212" y="239496"/>
                  </a:lnTo>
                  <a:lnTo>
                    <a:pt x="222351" y="239496"/>
                  </a:lnTo>
                  <a:lnTo>
                    <a:pt x="214490" y="239496"/>
                  </a:lnTo>
                  <a:lnTo>
                    <a:pt x="176517" y="230378"/>
                  </a:lnTo>
                  <a:lnTo>
                    <a:pt x="169252" y="227368"/>
                  </a:lnTo>
                  <a:lnTo>
                    <a:pt x="162356" y="223685"/>
                  </a:lnTo>
                  <a:lnTo>
                    <a:pt x="155816" y="219316"/>
                  </a:lnTo>
                  <a:lnTo>
                    <a:pt x="149275" y="214947"/>
                  </a:lnTo>
                  <a:lnTo>
                    <a:pt x="122770" y="186270"/>
                  </a:lnTo>
                  <a:lnTo>
                    <a:pt x="111709" y="165569"/>
                  </a:lnTo>
                  <a:lnTo>
                    <a:pt x="108699" y="158305"/>
                  </a:lnTo>
                  <a:lnTo>
                    <a:pt x="106426" y="150825"/>
                  </a:lnTo>
                  <a:lnTo>
                    <a:pt x="104902" y="143103"/>
                  </a:lnTo>
                  <a:lnTo>
                    <a:pt x="103365" y="135394"/>
                  </a:lnTo>
                  <a:lnTo>
                    <a:pt x="102590" y="127609"/>
                  </a:lnTo>
                  <a:lnTo>
                    <a:pt x="102590" y="119748"/>
                  </a:lnTo>
                  <a:lnTo>
                    <a:pt x="102590" y="111887"/>
                  </a:lnTo>
                  <a:lnTo>
                    <a:pt x="103365" y="104101"/>
                  </a:lnTo>
                  <a:lnTo>
                    <a:pt x="104902" y="96380"/>
                  </a:lnTo>
                  <a:lnTo>
                    <a:pt x="106426" y="88671"/>
                  </a:lnTo>
                  <a:lnTo>
                    <a:pt x="108699" y="81178"/>
                  </a:lnTo>
                  <a:lnTo>
                    <a:pt x="111709" y="73926"/>
                  </a:lnTo>
                  <a:lnTo>
                    <a:pt x="114719" y="66649"/>
                  </a:lnTo>
                  <a:lnTo>
                    <a:pt x="137668" y="35077"/>
                  </a:lnTo>
                  <a:lnTo>
                    <a:pt x="143230" y="29514"/>
                  </a:lnTo>
                  <a:lnTo>
                    <a:pt x="149275" y="24549"/>
                  </a:lnTo>
                  <a:lnTo>
                    <a:pt x="155816" y="20180"/>
                  </a:lnTo>
                  <a:lnTo>
                    <a:pt x="162356" y="15811"/>
                  </a:lnTo>
                  <a:lnTo>
                    <a:pt x="198983" y="2298"/>
                  </a:lnTo>
                  <a:lnTo>
                    <a:pt x="206692" y="762"/>
                  </a:lnTo>
                  <a:lnTo>
                    <a:pt x="214490" y="0"/>
                  </a:lnTo>
                  <a:lnTo>
                    <a:pt x="222351" y="0"/>
                  </a:lnTo>
                  <a:lnTo>
                    <a:pt x="230212" y="0"/>
                  </a:lnTo>
                  <a:lnTo>
                    <a:pt x="237998" y="762"/>
                  </a:lnTo>
                  <a:lnTo>
                    <a:pt x="245706" y="2298"/>
                  </a:lnTo>
                  <a:lnTo>
                    <a:pt x="253428" y="3835"/>
                  </a:lnTo>
                  <a:lnTo>
                    <a:pt x="288874" y="20180"/>
                  </a:lnTo>
                  <a:lnTo>
                    <a:pt x="295414" y="24549"/>
                  </a:lnTo>
                  <a:lnTo>
                    <a:pt x="301459" y="29514"/>
                  </a:lnTo>
                  <a:lnTo>
                    <a:pt x="307022" y="35077"/>
                  </a:lnTo>
                  <a:lnTo>
                    <a:pt x="312585" y="40627"/>
                  </a:lnTo>
                  <a:lnTo>
                    <a:pt x="317550" y="46685"/>
                  </a:lnTo>
                  <a:lnTo>
                    <a:pt x="321906" y="53225"/>
                  </a:lnTo>
                  <a:lnTo>
                    <a:pt x="326288" y="59753"/>
                  </a:lnTo>
                  <a:lnTo>
                    <a:pt x="329971" y="66649"/>
                  </a:lnTo>
                  <a:lnTo>
                    <a:pt x="332981" y="73926"/>
                  </a:lnTo>
                  <a:lnTo>
                    <a:pt x="335991" y="81178"/>
                  </a:lnTo>
                  <a:lnTo>
                    <a:pt x="338264" y="88671"/>
                  </a:lnTo>
                  <a:lnTo>
                    <a:pt x="339801" y="96380"/>
                  </a:lnTo>
                  <a:lnTo>
                    <a:pt x="341325" y="104101"/>
                  </a:lnTo>
                  <a:lnTo>
                    <a:pt x="342099" y="111887"/>
                  </a:lnTo>
                  <a:lnTo>
                    <a:pt x="342099" y="119748"/>
                  </a:lnTo>
                  <a:close/>
                </a:path>
                <a:path w="511175" h="498475">
                  <a:moveTo>
                    <a:pt x="473837" y="323723"/>
                  </a:moveTo>
                  <a:lnTo>
                    <a:pt x="473240" y="265379"/>
                  </a:lnTo>
                </a:path>
                <a:path w="511175" h="498475">
                  <a:moveTo>
                    <a:pt x="5816" y="484886"/>
                  </a:moveTo>
                  <a:lnTo>
                    <a:pt x="268909" y="485317"/>
                  </a:lnTo>
                </a:path>
                <a:path w="511175" h="498475">
                  <a:moveTo>
                    <a:pt x="308838" y="379933"/>
                  </a:moveTo>
                  <a:lnTo>
                    <a:pt x="308940" y="465836"/>
                  </a:lnTo>
                </a:path>
                <a:path w="511175" h="498475">
                  <a:moveTo>
                    <a:pt x="404368" y="409498"/>
                  </a:moveTo>
                  <a:lnTo>
                    <a:pt x="402767" y="409041"/>
                  </a:lnTo>
                  <a:lnTo>
                    <a:pt x="401256" y="408381"/>
                  </a:lnTo>
                  <a:lnTo>
                    <a:pt x="399834" y="407530"/>
                  </a:lnTo>
                  <a:lnTo>
                    <a:pt x="398399" y="406679"/>
                  </a:lnTo>
                  <a:lnTo>
                    <a:pt x="397090" y="405663"/>
                  </a:lnTo>
                  <a:lnTo>
                    <a:pt x="395922" y="404482"/>
                  </a:lnTo>
                  <a:lnTo>
                    <a:pt x="394741" y="403313"/>
                  </a:lnTo>
                  <a:lnTo>
                    <a:pt x="390918" y="396024"/>
                  </a:lnTo>
                  <a:lnTo>
                    <a:pt x="390448" y="394436"/>
                  </a:lnTo>
                  <a:lnTo>
                    <a:pt x="390194" y="392798"/>
                  </a:lnTo>
                  <a:lnTo>
                    <a:pt x="390131" y="391134"/>
                  </a:lnTo>
                  <a:lnTo>
                    <a:pt x="390080" y="389470"/>
                  </a:lnTo>
                  <a:lnTo>
                    <a:pt x="390232" y="387832"/>
                  </a:lnTo>
                  <a:lnTo>
                    <a:pt x="398716" y="374142"/>
                  </a:lnTo>
                  <a:lnTo>
                    <a:pt x="400088" y="373202"/>
                  </a:lnTo>
                  <a:lnTo>
                    <a:pt x="401561" y="372440"/>
                  </a:lnTo>
                  <a:lnTo>
                    <a:pt x="403123" y="371868"/>
                  </a:lnTo>
                  <a:lnTo>
                    <a:pt x="404685" y="371297"/>
                  </a:lnTo>
                  <a:lnTo>
                    <a:pt x="406285" y="370928"/>
                  </a:lnTo>
                  <a:lnTo>
                    <a:pt x="407936" y="370751"/>
                  </a:lnTo>
                  <a:lnTo>
                    <a:pt x="409600" y="370586"/>
                  </a:lnTo>
                  <a:lnTo>
                    <a:pt x="411251" y="370624"/>
                  </a:lnTo>
                  <a:lnTo>
                    <a:pt x="412889" y="370878"/>
                  </a:lnTo>
                  <a:lnTo>
                    <a:pt x="414540" y="371119"/>
                  </a:lnTo>
                  <a:lnTo>
                    <a:pt x="421944" y="374700"/>
                  </a:lnTo>
                  <a:lnTo>
                    <a:pt x="423265" y="375704"/>
                  </a:lnTo>
                  <a:lnTo>
                    <a:pt x="429844" y="390423"/>
                  </a:lnTo>
                  <a:lnTo>
                    <a:pt x="429704" y="392087"/>
                  </a:lnTo>
                  <a:lnTo>
                    <a:pt x="429577" y="393738"/>
                  </a:lnTo>
                  <a:lnTo>
                    <a:pt x="429234" y="395363"/>
                  </a:lnTo>
                  <a:lnTo>
                    <a:pt x="428688" y="396938"/>
                  </a:lnTo>
                  <a:lnTo>
                    <a:pt x="428155" y="398500"/>
                  </a:lnTo>
                  <a:lnTo>
                    <a:pt x="427431" y="399986"/>
                  </a:lnTo>
                  <a:lnTo>
                    <a:pt x="426504" y="401383"/>
                  </a:lnTo>
                  <a:lnTo>
                    <a:pt x="425602" y="402767"/>
                  </a:lnTo>
                  <a:lnTo>
                    <a:pt x="424522" y="404025"/>
                  </a:lnTo>
                  <a:lnTo>
                    <a:pt x="423291" y="405142"/>
                  </a:lnTo>
                  <a:lnTo>
                    <a:pt x="422059" y="406260"/>
                  </a:lnTo>
                  <a:lnTo>
                    <a:pt x="420712" y="407212"/>
                  </a:lnTo>
                  <a:lnTo>
                    <a:pt x="419239" y="407987"/>
                  </a:lnTo>
                  <a:lnTo>
                    <a:pt x="417779" y="408774"/>
                  </a:lnTo>
                  <a:lnTo>
                    <a:pt x="416229" y="409359"/>
                  </a:lnTo>
                  <a:lnTo>
                    <a:pt x="414616" y="409752"/>
                  </a:lnTo>
                  <a:lnTo>
                    <a:pt x="412991" y="410133"/>
                  </a:lnTo>
                  <a:lnTo>
                    <a:pt x="411353" y="410324"/>
                  </a:lnTo>
                  <a:lnTo>
                    <a:pt x="409689" y="410298"/>
                  </a:lnTo>
                </a:path>
                <a:path w="511175" h="498475">
                  <a:moveTo>
                    <a:pt x="409498" y="411073"/>
                  </a:moveTo>
                  <a:lnTo>
                    <a:pt x="409829" y="453059"/>
                  </a:lnTo>
                </a:path>
                <a:path w="511175" h="498475">
                  <a:moveTo>
                    <a:pt x="404418" y="409321"/>
                  </a:moveTo>
                  <a:lnTo>
                    <a:pt x="409498" y="410972"/>
                  </a:lnTo>
                </a:path>
                <a:path w="511175" h="498475">
                  <a:moveTo>
                    <a:pt x="346786" y="273634"/>
                  </a:moveTo>
                  <a:lnTo>
                    <a:pt x="346621" y="314312"/>
                  </a:lnTo>
                </a:path>
                <a:path w="511175" h="498475">
                  <a:moveTo>
                    <a:pt x="346316" y="498043"/>
                  </a:moveTo>
                  <a:lnTo>
                    <a:pt x="482815" y="498030"/>
                  </a:lnTo>
                </a:path>
                <a:path w="511175" h="498475">
                  <a:moveTo>
                    <a:pt x="199021" y="263194"/>
                  </a:moveTo>
                  <a:lnTo>
                    <a:pt x="239471" y="263220"/>
                  </a:lnTo>
                </a:path>
                <a:path w="511175" h="498475">
                  <a:moveTo>
                    <a:pt x="482815" y="498030"/>
                  </a:moveTo>
                  <a:lnTo>
                    <a:pt x="496254" y="495640"/>
                  </a:lnTo>
                  <a:lnTo>
                    <a:pt x="505936" y="485828"/>
                  </a:lnTo>
                  <a:lnTo>
                    <a:pt x="510969" y="472602"/>
                  </a:lnTo>
                  <a:lnTo>
                    <a:pt x="510463" y="459968"/>
                  </a:lnTo>
                  <a:lnTo>
                    <a:pt x="509143" y="335064"/>
                  </a:lnTo>
                </a:path>
              </a:pathLst>
            </a:custGeom>
            <a:ln w="2260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30424" y="7244379"/>
            <a:ext cx="122618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50" dirty="0">
                <a:solidFill>
                  <a:srgbClr val="262424"/>
                </a:solidFill>
                <a:latin typeface="Tahoma"/>
                <a:cs typeface="Tahoma"/>
              </a:rPr>
              <a:t>Select</a:t>
            </a:r>
            <a:r>
              <a:rPr sz="1800" b="1" spc="-1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262424"/>
                </a:solidFill>
                <a:latin typeface="Tahoma"/>
                <a:cs typeface="Tahoma"/>
              </a:rPr>
              <a:t>Seat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22419" y="4963180"/>
            <a:ext cx="11938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35" dirty="0">
                <a:solidFill>
                  <a:srgbClr val="262424"/>
                </a:solidFill>
                <a:latin typeface="Tahoma"/>
                <a:cs typeface="Tahoma"/>
              </a:rPr>
              <a:t>Lock</a:t>
            </a:r>
            <a:r>
              <a:rPr sz="1800" b="1" spc="-1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262424"/>
                </a:solidFill>
                <a:latin typeface="Tahoma"/>
                <a:cs typeface="Tahoma"/>
              </a:rPr>
              <a:t>Seats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40336" y="7919536"/>
            <a:ext cx="18815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30" dirty="0">
                <a:solidFill>
                  <a:srgbClr val="262424"/>
                </a:solidFill>
                <a:latin typeface="Tahoma"/>
                <a:cs typeface="Tahoma"/>
              </a:rPr>
              <a:t>Process</a:t>
            </a:r>
            <a:r>
              <a:rPr sz="1800" b="1" spc="-1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262424"/>
                </a:solidFill>
                <a:latin typeface="Tahoma"/>
                <a:cs typeface="Tahoma"/>
              </a:rPr>
              <a:t>Payment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04560" y="6567132"/>
            <a:ext cx="2252980" cy="664210"/>
            <a:chOff x="6104560" y="6567132"/>
            <a:chExt cx="2252980" cy="664210"/>
          </a:xfrm>
        </p:grpSpPr>
        <p:sp>
          <p:nvSpPr>
            <p:cNvPr id="30" name="object 30"/>
            <p:cNvSpPr/>
            <p:nvPr/>
          </p:nvSpPr>
          <p:spPr>
            <a:xfrm>
              <a:off x="6461798" y="6872833"/>
              <a:ext cx="92710" cy="3810"/>
            </a:xfrm>
            <a:custGeom>
              <a:avLst/>
              <a:gdLst/>
              <a:ahLst/>
              <a:cxnLst/>
              <a:rect l="l" t="t" r="r" b="b"/>
              <a:pathLst>
                <a:path w="92709" h="3809">
                  <a:moveTo>
                    <a:pt x="0" y="0"/>
                  </a:moveTo>
                  <a:lnTo>
                    <a:pt x="4374" y="1472"/>
                  </a:lnTo>
                  <a:lnTo>
                    <a:pt x="10945" y="2624"/>
                  </a:lnTo>
                  <a:lnTo>
                    <a:pt x="21458" y="3416"/>
                  </a:lnTo>
                  <a:lnTo>
                    <a:pt x="37655" y="3810"/>
                  </a:lnTo>
                </a:path>
                <a:path w="92709" h="3809">
                  <a:moveTo>
                    <a:pt x="77597" y="3695"/>
                  </a:moveTo>
                  <a:lnTo>
                    <a:pt x="85852" y="3048"/>
                  </a:lnTo>
                  <a:lnTo>
                    <a:pt x="89433" y="2235"/>
                  </a:lnTo>
                  <a:lnTo>
                    <a:pt x="92659" y="990"/>
                  </a:lnTo>
                </a:path>
              </a:pathLst>
            </a:custGeom>
            <a:ln w="226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4598" y="6865709"/>
              <a:ext cx="105040" cy="8903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63334" y="6856818"/>
              <a:ext cx="64135" cy="86995"/>
            </a:xfrm>
            <a:custGeom>
              <a:avLst/>
              <a:gdLst/>
              <a:ahLst/>
              <a:cxnLst/>
              <a:rect l="l" t="t" r="r" b="b"/>
              <a:pathLst>
                <a:path w="64134" h="86995">
                  <a:moveTo>
                    <a:pt x="0" y="86614"/>
                  </a:moveTo>
                  <a:lnTo>
                    <a:pt x="41732" y="73901"/>
                  </a:lnTo>
                  <a:lnTo>
                    <a:pt x="62547" y="38265"/>
                  </a:lnTo>
                  <a:lnTo>
                    <a:pt x="63904" y="11799"/>
                  </a:lnTo>
                  <a:lnTo>
                    <a:pt x="64033" y="0"/>
                  </a:lnTo>
                </a:path>
              </a:pathLst>
            </a:custGeom>
            <a:ln w="226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6746" y="6567132"/>
              <a:ext cx="111923" cy="8868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4598" y="6567132"/>
              <a:ext cx="91197" cy="10243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115888" y="6578460"/>
              <a:ext cx="511809" cy="365125"/>
            </a:xfrm>
            <a:custGeom>
              <a:avLst/>
              <a:gdLst/>
              <a:ahLst/>
              <a:cxnLst/>
              <a:rect l="l" t="t" r="r" b="b"/>
              <a:pathLst>
                <a:path w="511809" h="365125">
                  <a:moveTo>
                    <a:pt x="511454" y="160007"/>
                  </a:moveTo>
                  <a:lnTo>
                    <a:pt x="50" y="160629"/>
                  </a:lnTo>
                </a:path>
                <a:path w="511809" h="365125">
                  <a:moveTo>
                    <a:pt x="0" y="164579"/>
                  </a:moveTo>
                  <a:lnTo>
                    <a:pt x="38" y="298577"/>
                  </a:lnTo>
                </a:path>
                <a:path w="511809" h="365125">
                  <a:moveTo>
                    <a:pt x="511454" y="85064"/>
                  </a:moveTo>
                  <a:lnTo>
                    <a:pt x="50" y="85115"/>
                  </a:lnTo>
                </a:path>
                <a:path w="511809" h="365125">
                  <a:moveTo>
                    <a:pt x="347192" y="213093"/>
                  </a:moveTo>
                  <a:lnTo>
                    <a:pt x="439343" y="212915"/>
                  </a:lnTo>
                </a:path>
                <a:path w="511809" h="365125">
                  <a:moveTo>
                    <a:pt x="347192" y="213093"/>
                  </a:moveTo>
                  <a:lnTo>
                    <a:pt x="339547" y="286816"/>
                  </a:lnTo>
                  <a:lnTo>
                    <a:pt x="339979" y="287756"/>
                  </a:lnTo>
                  <a:lnTo>
                    <a:pt x="344703" y="293535"/>
                  </a:lnTo>
                  <a:lnTo>
                    <a:pt x="345909" y="294373"/>
                  </a:lnTo>
                </a:path>
                <a:path w="511809" h="365125">
                  <a:moveTo>
                    <a:pt x="438569" y="295363"/>
                  </a:moveTo>
                  <a:lnTo>
                    <a:pt x="446836" y="285610"/>
                  </a:lnTo>
                  <a:lnTo>
                    <a:pt x="446722" y="222313"/>
                  </a:lnTo>
                  <a:lnTo>
                    <a:pt x="446151" y="221018"/>
                  </a:lnTo>
                  <a:lnTo>
                    <a:pt x="445643" y="220052"/>
                  </a:lnTo>
                  <a:lnTo>
                    <a:pt x="445071" y="219125"/>
                  </a:lnTo>
                  <a:lnTo>
                    <a:pt x="444436" y="218249"/>
                  </a:lnTo>
                  <a:lnTo>
                    <a:pt x="439343" y="212915"/>
                  </a:lnTo>
                </a:path>
                <a:path w="511809" h="365125">
                  <a:moveTo>
                    <a:pt x="69240" y="274993"/>
                  </a:moveTo>
                  <a:lnTo>
                    <a:pt x="210146" y="274967"/>
                  </a:lnTo>
                </a:path>
                <a:path w="511809" h="365125">
                  <a:moveTo>
                    <a:pt x="383565" y="298183"/>
                  </a:moveTo>
                  <a:lnTo>
                    <a:pt x="423506" y="298069"/>
                  </a:lnTo>
                </a:path>
                <a:path w="511809" h="365125">
                  <a:moveTo>
                    <a:pt x="82423" y="364959"/>
                  </a:moveTo>
                  <a:lnTo>
                    <a:pt x="447446" y="364972"/>
                  </a:lnTo>
                </a:path>
                <a:path w="511809" h="365125">
                  <a:moveTo>
                    <a:pt x="511479" y="278358"/>
                  </a:moveTo>
                  <a:lnTo>
                    <a:pt x="511454" y="66027"/>
                  </a:lnTo>
                </a:path>
                <a:path w="511809" h="365125">
                  <a:moveTo>
                    <a:pt x="422186" y="0"/>
                  </a:moveTo>
                  <a:lnTo>
                    <a:pt x="68580" y="0"/>
                  </a:lnTo>
                </a:path>
                <a:path w="511809" h="365125">
                  <a:moveTo>
                    <a:pt x="38" y="79781"/>
                  </a:moveTo>
                  <a:lnTo>
                    <a:pt x="0" y="164579"/>
                  </a:lnTo>
                </a:path>
              </a:pathLst>
            </a:custGeom>
            <a:ln w="226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5780" y="6957313"/>
              <a:ext cx="230504" cy="261620"/>
            </a:xfrm>
            <a:custGeom>
              <a:avLst/>
              <a:gdLst/>
              <a:ahLst/>
              <a:cxnLst/>
              <a:rect l="l" t="t" r="r" b="b"/>
              <a:pathLst>
                <a:path w="230504" h="261620">
                  <a:moveTo>
                    <a:pt x="82932" y="260019"/>
                  </a:moveTo>
                  <a:lnTo>
                    <a:pt x="99129" y="260835"/>
                  </a:lnTo>
                  <a:lnTo>
                    <a:pt x="111033" y="261208"/>
                  </a:lnTo>
                  <a:lnTo>
                    <a:pt x="120082" y="261203"/>
                  </a:lnTo>
                  <a:lnTo>
                    <a:pt x="164631" y="249034"/>
                  </a:lnTo>
                  <a:lnTo>
                    <a:pt x="201181" y="216564"/>
                  </a:lnTo>
                  <a:lnTo>
                    <a:pt x="221951" y="178843"/>
                  </a:lnTo>
                  <a:lnTo>
                    <a:pt x="230151" y="135163"/>
                  </a:lnTo>
                  <a:lnTo>
                    <a:pt x="230021" y="123501"/>
                  </a:lnTo>
                  <a:lnTo>
                    <a:pt x="222183" y="80429"/>
                  </a:lnTo>
                  <a:lnTo>
                    <a:pt x="202266" y="43449"/>
                  </a:lnTo>
                  <a:lnTo>
                    <a:pt x="172839" y="17254"/>
                  </a:lnTo>
                  <a:lnTo>
                    <a:pt x="135941" y="2703"/>
                  </a:lnTo>
                  <a:lnTo>
                    <a:pt x="115355" y="0"/>
                  </a:lnTo>
                  <a:lnTo>
                    <a:pt x="109324" y="266"/>
                  </a:lnTo>
                  <a:lnTo>
                    <a:pt x="66722" y="13625"/>
                  </a:lnTo>
                  <a:lnTo>
                    <a:pt x="35070" y="37394"/>
                  </a:lnTo>
                  <a:lnTo>
                    <a:pt x="12089" y="71781"/>
                  </a:lnTo>
                  <a:lnTo>
                    <a:pt x="677" y="115502"/>
                  </a:lnTo>
                  <a:lnTo>
                    <a:pt x="0" y="131243"/>
                  </a:lnTo>
                  <a:lnTo>
                    <a:pt x="154" y="139268"/>
                  </a:lnTo>
                  <a:lnTo>
                    <a:pt x="9418" y="182503"/>
                  </a:lnTo>
                  <a:lnTo>
                    <a:pt x="31650" y="220040"/>
                  </a:lnTo>
                  <a:lnTo>
                    <a:pt x="82932" y="260019"/>
                  </a:lnTo>
                </a:path>
              </a:pathLst>
            </a:custGeom>
            <a:ln w="226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23153" y="6946497"/>
              <a:ext cx="102061" cy="13755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3128" y="7115496"/>
              <a:ext cx="138954" cy="11529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834465" y="6957123"/>
              <a:ext cx="370840" cy="262890"/>
            </a:xfrm>
            <a:custGeom>
              <a:avLst/>
              <a:gdLst/>
              <a:ahLst/>
              <a:cxnLst/>
              <a:rect l="l" t="t" r="r" b="b"/>
              <a:pathLst>
                <a:path w="370840" h="262890">
                  <a:moveTo>
                    <a:pt x="370268" y="0"/>
                  </a:moveTo>
                  <a:lnTo>
                    <a:pt x="79413" y="711"/>
                  </a:lnTo>
                </a:path>
                <a:path w="370840" h="262890">
                  <a:moveTo>
                    <a:pt x="25" y="115595"/>
                  </a:moveTo>
                  <a:lnTo>
                    <a:pt x="0" y="169710"/>
                  </a:lnTo>
                </a:path>
                <a:path w="370840" h="262890">
                  <a:moveTo>
                    <a:pt x="116281" y="262331"/>
                  </a:moveTo>
                  <a:lnTo>
                    <a:pt x="367474" y="262331"/>
                  </a:lnTo>
                </a:path>
              </a:pathLst>
            </a:custGeom>
            <a:ln w="226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86307" y="5566722"/>
            <a:ext cx="20243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80" dirty="0">
                <a:solidFill>
                  <a:srgbClr val="262424"/>
                </a:solidFill>
                <a:latin typeface="Tahoma"/>
                <a:cs typeface="Tahoma"/>
              </a:rPr>
              <a:t>Commit</a:t>
            </a:r>
            <a:r>
              <a:rPr sz="1800" b="1" spc="-1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262424"/>
                </a:solidFill>
                <a:latin typeface="Tahoma"/>
                <a:cs typeface="Tahoma"/>
              </a:rPr>
              <a:t>or</a:t>
            </a:r>
            <a:r>
              <a:rPr sz="1800" b="1" spc="-1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262424"/>
                </a:solidFill>
                <a:latin typeface="Tahoma"/>
                <a:cs typeface="Tahoma"/>
              </a:rPr>
              <a:t>Release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35" dirty="0"/>
              <a:t>API</a:t>
            </a:r>
            <a:r>
              <a:rPr spc="-330" dirty="0"/>
              <a:t> </a:t>
            </a:r>
            <a:r>
              <a:rPr spc="-110" dirty="0"/>
              <a:t>Contracts:</a:t>
            </a:r>
            <a:r>
              <a:rPr spc="-330" dirty="0"/>
              <a:t> </a:t>
            </a:r>
            <a:r>
              <a:rPr spc="-140" dirty="0"/>
              <a:t>Defining</a:t>
            </a:r>
            <a:r>
              <a:rPr spc="-330" dirty="0"/>
              <a:t> </a:t>
            </a:r>
            <a:r>
              <a:rPr spc="-155" dirty="0"/>
              <a:t>Interactions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600062" y="2457449"/>
            <a:ext cx="4906010" cy="2172335"/>
          </a:xfrm>
          <a:custGeom>
            <a:avLst/>
            <a:gdLst/>
            <a:ahLst/>
            <a:cxnLst/>
            <a:rect l="l" t="t" r="r" b="b"/>
            <a:pathLst>
              <a:path w="4906010" h="2172335">
                <a:moveTo>
                  <a:pt x="4905387" y="56070"/>
                </a:moveTo>
                <a:lnTo>
                  <a:pt x="4905375" y="55943"/>
                </a:lnTo>
                <a:lnTo>
                  <a:pt x="4905375" y="52057"/>
                </a:lnTo>
                <a:lnTo>
                  <a:pt x="4903851" y="44411"/>
                </a:lnTo>
                <a:lnTo>
                  <a:pt x="4902378" y="40868"/>
                </a:lnTo>
                <a:lnTo>
                  <a:pt x="4902327" y="40690"/>
                </a:lnTo>
                <a:lnTo>
                  <a:pt x="4899304" y="33401"/>
                </a:lnTo>
                <a:lnTo>
                  <a:pt x="4899215" y="33261"/>
                </a:lnTo>
                <a:lnTo>
                  <a:pt x="4897755" y="29705"/>
                </a:lnTo>
                <a:lnTo>
                  <a:pt x="4893424" y="23215"/>
                </a:lnTo>
                <a:lnTo>
                  <a:pt x="4890706" y="20510"/>
                </a:lnTo>
                <a:lnTo>
                  <a:pt x="4890592" y="20358"/>
                </a:lnTo>
                <a:lnTo>
                  <a:pt x="4885029" y="14782"/>
                </a:lnTo>
                <a:lnTo>
                  <a:pt x="4884813" y="14617"/>
                </a:lnTo>
                <a:lnTo>
                  <a:pt x="4882172" y="11963"/>
                </a:lnTo>
                <a:lnTo>
                  <a:pt x="4875682" y="7620"/>
                </a:lnTo>
                <a:lnTo>
                  <a:pt x="4872050" y="6121"/>
                </a:lnTo>
                <a:lnTo>
                  <a:pt x="4864697" y="3060"/>
                </a:lnTo>
                <a:lnTo>
                  <a:pt x="4864544" y="3022"/>
                </a:lnTo>
                <a:lnTo>
                  <a:pt x="4860976" y="1536"/>
                </a:lnTo>
                <a:lnTo>
                  <a:pt x="4853330" y="12"/>
                </a:lnTo>
                <a:lnTo>
                  <a:pt x="4849444" y="12"/>
                </a:lnTo>
                <a:lnTo>
                  <a:pt x="4849317" y="0"/>
                </a:lnTo>
                <a:lnTo>
                  <a:pt x="56070" y="0"/>
                </a:lnTo>
                <a:lnTo>
                  <a:pt x="55930" y="12"/>
                </a:lnTo>
                <a:lnTo>
                  <a:pt x="52057" y="12"/>
                </a:lnTo>
                <a:lnTo>
                  <a:pt x="44399" y="1536"/>
                </a:lnTo>
                <a:lnTo>
                  <a:pt x="40779" y="3035"/>
                </a:lnTo>
                <a:lnTo>
                  <a:pt x="34874" y="5486"/>
                </a:lnTo>
                <a:lnTo>
                  <a:pt x="33413" y="6083"/>
                </a:lnTo>
                <a:lnTo>
                  <a:pt x="29692" y="7620"/>
                </a:lnTo>
                <a:lnTo>
                  <a:pt x="23202" y="11963"/>
                </a:lnTo>
                <a:lnTo>
                  <a:pt x="20434" y="14732"/>
                </a:lnTo>
                <a:lnTo>
                  <a:pt x="14795" y="20358"/>
                </a:lnTo>
                <a:lnTo>
                  <a:pt x="11950" y="23215"/>
                </a:lnTo>
                <a:lnTo>
                  <a:pt x="7620" y="29705"/>
                </a:lnTo>
                <a:lnTo>
                  <a:pt x="6096" y="33362"/>
                </a:lnTo>
                <a:lnTo>
                  <a:pt x="4851" y="36385"/>
                </a:lnTo>
                <a:lnTo>
                  <a:pt x="1524" y="44411"/>
                </a:lnTo>
                <a:lnTo>
                  <a:pt x="0" y="52057"/>
                </a:lnTo>
                <a:lnTo>
                  <a:pt x="0" y="2119668"/>
                </a:lnTo>
                <a:lnTo>
                  <a:pt x="23202" y="2159762"/>
                </a:lnTo>
                <a:lnTo>
                  <a:pt x="52057" y="2171712"/>
                </a:lnTo>
                <a:lnTo>
                  <a:pt x="4853330" y="2171712"/>
                </a:lnTo>
                <a:lnTo>
                  <a:pt x="4860976" y="2170188"/>
                </a:lnTo>
                <a:lnTo>
                  <a:pt x="4875682" y="2164092"/>
                </a:lnTo>
                <a:lnTo>
                  <a:pt x="4882172" y="2159762"/>
                </a:lnTo>
                <a:lnTo>
                  <a:pt x="4884953" y="2156980"/>
                </a:lnTo>
                <a:lnTo>
                  <a:pt x="4887811" y="2154123"/>
                </a:lnTo>
                <a:lnTo>
                  <a:pt x="4893424" y="2148509"/>
                </a:lnTo>
                <a:lnTo>
                  <a:pt x="4897755" y="2142020"/>
                </a:lnTo>
                <a:lnTo>
                  <a:pt x="4899266" y="2138362"/>
                </a:lnTo>
                <a:lnTo>
                  <a:pt x="4902327" y="2131009"/>
                </a:lnTo>
                <a:lnTo>
                  <a:pt x="4903851" y="2127313"/>
                </a:lnTo>
                <a:lnTo>
                  <a:pt x="4905375" y="2119668"/>
                </a:lnTo>
                <a:lnTo>
                  <a:pt x="4905375" y="2115769"/>
                </a:lnTo>
                <a:lnTo>
                  <a:pt x="4905387" y="2115629"/>
                </a:lnTo>
                <a:lnTo>
                  <a:pt x="4905387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Examples</a:t>
            </a:r>
            <a:r>
              <a:rPr spc="-114" dirty="0"/>
              <a:t> </a:t>
            </a:r>
            <a:r>
              <a:rPr spc="-20" dirty="0"/>
              <a:t>of</a:t>
            </a:r>
            <a:r>
              <a:rPr spc="-114" dirty="0"/>
              <a:t> </a:t>
            </a:r>
            <a:r>
              <a:rPr spc="-90" dirty="0"/>
              <a:t>key</a:t>
            </a:r>
            <a:r>
              <a:rPr spc="-114" dirty="0"/>
              <a:t> </a:t>
            </a:r>
            <a:r>
              <a:rPr spc="-80" dirty="0"/>
              <a:t>API</a:t>
            </a:r>
            <a:r>
              <a:rPr spc="-114" dirty="0"/>
              <a:t> </a:t>
            </a:r>
            <a:r>
              <a:rPr spc="-70" dirty="0"/>
              <a:t>endpoints</a:t>
            </a:r>
            <a:r>
              <a:rPr spc="-114" dirty="0"/>
              <a:t> </a:t>
            </a:r>
            <a:r>
              <a:rPr spc="-60" dirty="0"/>
              <a:t>for</a:t>
            </a:r>
            <a:r>
              <a:rPr spc="-110" dirty="0"/>
              <a:t> </a:t>
            </a:r>
            <a:r>
              <a:rPr spc="-90" dirty="0"/>
              <a:t>managing</a:t>
            </a:r>
            <a:r>
              <a:rPr spc="-114" dirty="0"/>
              <a:t> </a:t>
            </a:r>
            <a:r>
              <a:rPr spc="-65" dirty="0"/>
              <a:t>seat</a:t>
            </a:r>
            <a:r>
              <a:rPr spc="-114" dirty="0"/>
              <a:t> </a:t>
            </a:r>
            <a:r>
              <a:rPr spc="-50" dirty="0"/>
              <a:t>reservations.</a:t>
            </a: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pc="-5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125" dirty="0">
                <a:solidFill>
                  <a:srgbClr val="000000"/>
                </a:solidFill>
                <a:latin typeface="Tahoma"/>
                <a:cs typeface="Tahoma"/>
              </a:rPr>
              <a:t>Initiate</a:t>
            </a:r>
            <a:r>
              <a:rPr sz="1650" b="1" spc="-1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000000"/>
                </a:solidFill>
                <a:latin typeface="Tahoma"/>
                <a:cs typeface="Tahoma"/>
              </a:rPr>
              <a:t>Seat</a:t>
            </a:r>
            <a:r>
              <a:rPr sz="1650" b="1" spc="-1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000000"/>
                </a:solidFill>
                <a:latin typeface="Tahoma"/>
                <a:cs typeface="Tahoma"/>
              </a:rPr>
              <a:t>Reservation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650">
              <a:latin typeface="Tahoma"/>
              <a:cs typeface="Tahoma"/>
            </a:endParaRPr>
          </a:p>
          <a:p>
            <a:pPr marL="175260">
              <a:lnSpc>
                <a:spcPct val="100000"/>
              </a:lnSpc>
            </a:pPr>
            <a:r>
              <a:rPr spc="-110" dirty="0">
                <a:latin typeface="Arial MT"/>
                <a:cs typeface="Arial MT"/>
              </a:rPr>
              <a:t>POST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/seats/reserve</a:t>
            </a: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dirty="0">
                <a:latin typeface="Arial MT"/>
                <a:cs typeface="Arial MT"/>
              </a:rPr>
              <a:t>{</a:t>
            </a:r>
          </a:p>
          <a:p>
            <a:pPr marL="257810">
              <a:lnSpc>
                <a:spcPct val="100000"/>
              </a:lnSpc>
              <a:spcBef>
                <a:spcPts val="555"/>
              </a:spcBef>
            </a:pPr>
            <a:r>
              <a:rPr dirty="0">
                <a:latin typeface="Arial MT"/>
                <a:cs typeface="Arial MT"/>
              </a:rPr>
              <a:t>"eventId":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"UUID",</a:t>
            </a:r>
          </a:p>
          <a:p>
            <a:pPr marL="257810" marR="2272030">
              <a:lnSpc>
                <a:spcPct val="131900"/>
              </a:lnSpc>
              <a:spcBef>
                <a:spcPts val="40"/>
              </a:spcBef>
            </a:pPr>
            <a:r>
              <a:rPr spc="-10" dirty="0">
                <a:latin typeface="Arial MT"/>
                <a:cs typeface="Arial MT"/>
              </a:rPr>
              <a:t>"seatIds":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["seat-</a:t>
            </a:r>
            <a:r>
              <a:rPr spc="-25" dirty="0">
                <a:latin typeface="Arial MT"/>
                <a:cs typeface="Arial MT"/>
              </a:rPr>
              <a:t>A1", </a:t>
            </a:r>
            <a:r>
              <a:rPr spc="-10" dirty="0">
                <a:latin typeface="Arial MT"/>
                <a:cs typeface="Arial MT"/>
              </a:rPr>
              <a:t>"seat-</a:t>
            </a:r>
            <a:r>
              <a:rPr spc="-20" dirty="0">
                <a:latin typeface="Arial MT"/>
                <a:cs typeface="Arial MT"/>
              </a:rPr>
              <a:t>A2"], </a:t>
            </a:r>
            <a:r>
              <a:rPr dirty="0">
                <a:latin typeface="Arial MT"/>
                <a:cs typeface="Arial MT"/>
              </a:rPr>
              <a:t>"userId": </a:t>
            </a:r>
            <a:r>
              <a:rPr spc="-10" dirty="0">
                <a:latin typeface="Arial MT"/>
                <a:cs typeface="Arial MT"/>
              </a:rPr>
              <a:t>"UUID", </a:t>
            </a:r>
            <a:r>
              <a:rPr dirty="0">
                <a:latin typeface="Arial MT"/>
                <a:cs typeface="Arial MT"/>
              </a:rPr>
              <a:t>"expiryInMinutes":</a:t>
            </a:r>
            <a:r>
              <a:rPr spc="18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5</a:t>
            </a: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dirty="0">
                <a:latin typeface="Arial MT"/>
                <a:cs typeface="Arial MT"/>
              </a:rPr>
              <a:t>}</a:t>
            </a: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dirty="0">
              <a:latin typeface="Arial MT"/>
              <a:cs typeface="Arial MT"/>
            </a:endParaRPr>
          </a:p>
          <a:p>
            <a:pPr marL="12700" marR="85725">
              <a:lnSpc>
                <a:spcPct val="129600"/>
              </a:lnSpc>
              <a:spcBef>
                <a:spcPts val="5"/>
              </a:spcBef>
            </a:pPr>
            <a:r>
              <a:rPr spc="-45" dirty="0"/>
              <a:t>This</a:t>
            </a:r>
            <a:r>
              <a:rPr spc="-114" dirty="0"/>
              <a:t> </a:t>
            </a:r>
            <a:r>
              <a:rPr spc="-75" dirty="0"/>
              <a:t>endpoint</a:t>
            </a:r>
            <a:r>
              <a:rPr spc="-114" dirty="0"/>
              <a:t> </a:t>
            </a:r>
            <a:r>
              <a:rPr spc="-100" dirty="0"/>
              <a:t>attempts</a:t>
            </a:r>
            <a:r>
              <a:rPr spc="-114" dirty="0"/>
              <a:t> </a:t>
            </a:r>
            <a:r>
              <a:rPr spc="-85" dirty="0"/>
              <a:t>to</a:t>
            </a:r>
            <a:r>
              <a:rPr spc="-114" dirty="0"/>
              <a:t> </a:t>
            </a:r>
            <a:r>
              <a:rPr spc="-45" dirty="0"/>
              <a:t>lock</a:t>
            </a:r>
            <a:r>
              <a:rPr spc="-114" dirty="0"/>
              <a:t> </a:t>
            </a:r>
            <a:r>
              <a:rPr spc="-40" dirty="0"/>
              <a:t>specified</a:t>
            </a:r>
            <a:r>
              <a:rPr spc="-114" dirty="0"/>
              <a:t> </a:t>
            </a:r>
            <a:r>
              <a:rPr spc="-65" dirty="0"/>
              <a:t>seats</a:t>
            </a:r>
            <a:r>
              <a:rPr spc="-114" dirty="0"/>
              <a:t> </a:t>
            </a:r>
            <a:r>
              <a:rPr spc="-60" dirty="0"/>
              <a:t>for</a:t>
            </a:r>
            <a:r>
              <a:rPr spc="-114" dirty="0"/>
              <a:t> </a:t>
            </a:r>
            <a:r>
              <a:rPr spc="-65" dirty="0"/>
              <a:t>a</a:t>
            </a:r>
            <a:r>
              <a:rPr spc="-114" dirty="0"/>
              <a:t> </a:t>
            </a:r>
            <a:r>
              <a:rPr spc="-75" dirty="0"/>
              <a:t>given</a:t>
            </a:r>
            <a:r>
              <a:rPr spc="-114" dirty="0"/>
              <a:t> </a:t>
            </a:r>
            <a:r>
              <a:rPr spc="-20" dirty="0"/>
              <a:t>user </a:t>
            </a:r>
            <a:r>
              <a:rPr spc="-60" dirty="0"/>
              <a:t>for</a:t>
            </a:r>
            <a:r>
              <a:rPr spc="-125" dirty="0"/>
              <a:t> </a:t>
            </a:r>
            <a:r>
              <a:rPr spc="-65" dirty="0"/>
              <a:t>a</a:t>
            </a:r>
            <a:r>
              <a:rPr spc="-120" dirty="0"/>
              <a:t> </a:t>
            </a:r>
            <a:r>
              <a:rPr spc="-95" dirty="0"/>
              <a:t>limited</a:t>
            </a:r>
            <a:r>
              <a:rPr spc="-120" dirty="0"/>
              <a:t> </a:t>
            </a:r>
            <a:r>
              <a:rPr spc="-20" dirty="0"/>
              <a:t>time.</a:t>
            </a:r>
          </a:p>
        </p:txBody>
      </p:sp>
      <p:sp>
        <p:nvSpPr>
          <p:cNvPr id="5" name="object 5"/>
          <p:cNvSpPr/>
          <p:nvPr/>
        </p:nvSpPr>
        <p:spPr>
          <a:xfrm>
            <a:off x="5934062" y="2457449"/>
            <a:ext cx="4906010" cy="2724785"/>
          </a:xfrm>
          <a:custGeom>
            <a:avLst/>
            <a:gdLst/>
            <a:ahLst/>
            <a:cxnLst/>
            <a:rect l="l" t="t" r="r" b="b"/>
            <a:pathLst>
              <a:path w="4906009" h="2724785">
                <a:moveTo>
                  <a:pt x="4905387" y="56070"/>
                </a:moveTo>
                <a:lnTo>
                  <a:pt x="4905375" y="55943"/>
                </a:lnTo>
                <a:lnTo>
                  <a:pt x="4905375" y="52057"/>
                </a:lnTo>
                <a:lnTo>
                  <a:pt x="4903851" y="44411"/>
                </a:lnTo>
                <a:lnTo>
                  <a:pt x="4902365" y="40855"/>
                </a:lnTo>
                <a:lnTo>
                  <a:pt x="4902327" y="40690"/>
                </a:lnTo>
                <a:lnTo>
                  <a:pt x="4899291" y="33401"/>
                </a:lnTo>
                <a:lnTo>
                  <a:pt x="4897755" y="29705"/>
                </a:lnTo>
                <a:lnTo>
                  <a:pt x="4893424" y="23215"/>
                </a:lnTo>
                <a:lnTo>
                  <a:pt x="4890770" y="20574"/>
                </a:lnTo>
                <a:lnTo>
                  <a:pt x="4890605" y="20358"/>
                </a:lnTo>
                <a:lnTo>
                  <a:pt x="4885004" y="14782"/>
                </a:lnTo>
                <a:lnTo>
                  <a:pt x="4882172" y="11963"/>
                </a:lnTo>
                <a:lnTo>
                  <a:pt x="4875682" y="7620"/>
                </a:lnTo>
                <a:lnTo>
                  <a:pt x="4872050" y="6121"/>
                </a:lnTo>
                <a:lnTo>
                  <a:pt x="4864684" y="3060"/>
                </a:lnTo>
                <a:lnTo>
                  <a:pt x="4860976" y="1536"/>
                </a:lnTo>
                <a:lnTo>
                  <a:pt x="4853330" y="12"/>
                </a:lnTo>
                <a:lnTo>
                  <a:pt x="4849444" y="12"/>
                </a:lnTo>
                <a:lnTo>
                  <a:pt x="4849317" y="0"/>
                </a:lnTo>
                <a:lnTo>
                  <a:pt x="56070" y="0"/>
                </a:lnTo>
                <a:lnTo>
                  <a:pt x="55930" y="12"/>
                </a:lnTo>
                <a:lnTo>
                  <a:pt x="52044" y="12"/>
                </a:lnTo>
                <a:lnTo>
                  <a:pt x="44399" y="1536"/>
                </a:lnTo>
                <a:lnTo>
                  <a:pt x="40741" y="3048"/>
                </a:lnTo>
                <a:lnTo>
                  <a:pt x="35941" y="5041"/>
                </a:lnTo>
                <a:lnTo>
                  <a:pt x="33413" y="6083"/>
                </a:lnTo>
                <a:lnTo>
                  <a:pt x="29692" y="7620"/>
                </a:lnTo>
                <a:lnTo>
                  <a:pt x="23202" y="11963"/>
                </a:lnTo>
                <a:lnTo>
                  <a:pt x="20434" y="14732"/>
                </a:lnTo>
                <a:lnTo>
                  <a:pt x="14795" y="20358"/>
                </a:lnTo>
                <a:lnTo>
                  <a:pt x="11950" y="23215"/>
                </a:lnTo>
                <a:lnTo>
                  <a:pt x="7607" y="29705"/>
                </a:lnTo>
                <a:lnTo>
                  <a:pt x="6083" y="33401"/>
                </a:lnTo>
                <a:lnTo>
                  <a:pt x="1524" y="44411"/>
                </a:lnTo>
                <a:lnTo>
                  <a:pt x="0" y="52057"/>
                </a:lnTo>
                <a:lnTo>
                  <a:pt x="0" y="2672118"/>
                </a:lnTo>
                <a:lnTo>
                  <a:pt x="23202" y="2712212"/>
                </a:lnTo>
                <a:lnTo>
                  <a:pt x="52044" y="2724162"/>
                </a:lnTo>
                <a:lnTo>
                  <a:pt x="4853330" y="2724162"/>
                </a:lnTo>
                <a:lnTo>
                  <a:pt x="4860976" y="2722638"/>
                </a:lnTo>
                <a:lnTo>
                  <a:pt x="4875682" y="2716542"/>
                </a:lnTo>
                <a:lnTo>
                  <a:pt x="4882172" y="2712212"/>
                </a:lnTo>
                <a:lnTo>
                  <a:pt x="4890605" y="2703779"/>
                </a:lnTo>
                <a:lnTo>
                  <a:pt x="4893424" y="2700959"/>
                </a:lnTo>
                <a:lnTo>
                  <a:pt x="4897755" y="2694470"/>
                </a:lnTo>
                <a:lnTo>
                  <a:pt x="4899291" y="2690749"/>
                </a:lnTo>
                <a:lnTo>
                  <a:pt x="4900561" y="2687688"/>
                </a:lnTo>
                <a:lnTo>
                  <a:pt x="4902327" y="2683459"/>
                </a:lnTo>
                <a:lnTo>
                  <a:pt x="4903851" y="2679763"/>
                </a:lnTo>
                <a:lnTo>
                  <a:pt x="4905375" y="2672118"/>
                </a:lnTo>
                <a:lnTo>
                  <a:pt x="4905375" y="2668219"/>
                </a:lnTo>
                <a:lnTo>
                  <a:pt x="4905387" y="2668079"/>
                </a:lnTo>
                <a:lnTo>
                  <a:pt x="4905387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Commit</a:t>
            </a:r>
            <a:r>
              <a:rPr spc="-145" dirty="0"/>
              <a:t> </a:t>
            </a:r>
            <a:r>
              <a:rPr spc="-40" dirty="0"/>
              <a:t>Reserved</a:t>
            </a:r>
            <a:r>
              <a:rPr spc="-145" dirty="0"/>
              <a:t> </a:t>
            </a:r>
            <a:r>
              <a:rPr spc="-20" dirty="0"/>
              <a:t>Seats</a:t>
            </a: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pc="-20" dirty="0"/>
          </a:p>
          <a:p>
            <a:pPr marL="175260">
              <a:lnSpc>
                <a:spcPct val="100000"/>
              </a:lnSpc>
            </a:pPr>
            <a:r>
              <a:rPr sz="1350" b="0" spc="-110" dirty="0">
                <a:solidFill>
                  <a:srgbClr val="262424"/>
                </a:solidFill>
                <a:latin typeface="Arial MT"/>
                <a:cs typeface="Arial MT"/>
              </a:rPr>
              <a:t>POST</a:t>
            </a:r>
            <a:r>
              <a:rPr sz="1350" b="0" spc="-65" dirty="0">
                <a:solidFill>
                  <a:srgbClr val="262424"/>
                </a:solidFill>
                <a:latin typeface="Arial MT"/>
                <a:cs typeface="Arial MT"/>
              </a:rPr>
              <a:t> </a:t>
            </a:r>
            <a:r>
              <a:rPr sz="1350" b="0" spc="-10" dirty="0">
                <a:solidFill>
                  <a:srgbClr val="262424"/>
                </a:solidFill>
                <a:latin typeface="Arial MT"/>
                <a:cs typeface="Arial MT"/>
              </a:rPr>
              <a:t>/seats/commit</a:t>
            </a:r>
            <a:endParaRPr sz="1350">
              <a:latin typeface="Arial MT"/>
              <a:cs typeface="Arial MT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{</a:t>
            </a:r>
            <a:endParaRPr sz="1350">
              <a:latin typeface="Arial MT"/>
              <a:cs typeface="Arial MT"/>
            </a:endParaRPr>
          </a:p>
          <a:p>
            <a:pPr marL="257810" marR="2550795">
              <a:lnSpc>
                <a:spcPct val="131900"/>
              </a:lnSpc>
              <a:spcBef>
                <a:spcPts val="40"/>
              </a:spcBef>
            </a:pP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"reservationId":</a:t>
            </a:r>
            <a:r>
              <a:rPr sz="1350" b="0" spc="95" dirty="0">
                <a:solidFill>
                  <a:srgbClr val="262424"/>
                </a:solidFill>
                <a:latin typeface="Arial MT"/>
                <a:cs typeface="Arial MT"/>
              </a:rPr>
              <a:t> </a:t>
            </a:r>
            <a:r>
              <a:rPr sz="1350" b="0" spc="-10" dirty="0">
                <a:solidFill>
                  <a:srgbClr val="262424"/>
                </a:solidFill>
                <a:latin typeface="Arial MT"/>
                <a:cs typeface="Arial MT"/>
              </a:rPr>
              <a:t>"UUID", </a:t>
            </a: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"paymentToken":</a:t>
            </a:r>
            <a:r>
              <a:rPr sz="1350" b="0" spc="80" dirty="0">
                <a:solidFill>
                  <a:srgbClr val="262424"/>
                </a:solidFill>
                <a:latin typeface="Arial MT"/>
                <a:cs typeface="Arial MT"/>
              </a:rPr>
              <a:t> </a:t>
            </a:r>
            <a:r>
              <a:rPr sz="1350" b="0" spc="-10" dirty="0">
                <a:solidFill>
                  <a:srgbClr val="262424"/>
                </a:solidFill>
                <a:latin typeface="Arial MT"/>
                <a:cs typeface="Arial MT"/>
              </a:rPr>
              <a:t>"string", </a:t>
            </a:r>
            <a:r>
              <a:rPr sz="1350" b="0" spc="10" dirty="0">
                <a:solidFill>
                  <a:srgbClr val="262424"/>
                </a:solidFill>
                <a:latin typeface="Arial MT"/>
                <a:cs typeface="Arial MT"/>
              </a:rPr>
              <a:t>"amount":</a:t>
            </a:r>
            <a:r>
              <a:rPr sz="1350" b="0" spc="125" dirty="0">
                <a:solidFill>
                  <a:srgbClr val="262424"/>
                </a:solidFill>
                <a:latin typeface="Arial MT"/>
                <a:cs typeface="Arial MT"/>
              </a:rPr>
              <a:t> </a:t>
            </a: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{</a:t>
            </a:r>
            <a:endParaRPr sz="1350">
              <a:latin typeface="Arial MT"/>
              <a:cs typeface="Arial MT"/>
            </a:endParaRPr>
          </a:p>
          <a:p>
            <a:pPr marL="339725" marR="3054985">
              <a:lnSpc>
                <a:spcPct val="134300"/>
              </a:lnSpc>
            </a:pP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"currency":</a:t>
            </a:r>
            <a:r>
              <a:rPr sz="1350" b="0" spc="5" dirty="0">
                <a:solidFill>
                  <a:srgbClr val="262424"/>
                </a:solidFill>
                <a:latin typeface="Arial MT"/>
                <a:cs typeface="Arial MT"/>
              </a:rPr>
              <a:t> </a:t>
            </a:r>
            <a:r>
              <a:rPr sz="1350" b="0" spc="-30" dirty="0">
                <a:solidFill>
                  <a:srgbClr val="262424"/>
                </a:solidFill>
                <a:latin typeface="Arial MT"/>
                <a:cs typeface="Arial MT"/>
              </a:rPr>
              <a:t>"USD", </a:t>
            </a: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"value":</a:t>
            </a:r>
            <a:r>
              <a:rPr sz="1350" b="0" spc="-75" dirty="0">
                <a:solidFill>
                  <a:srgbClr val="262424"/>
                </a:solidFill>
                <a:latin typeface="Arial MT"/>
                <a:cs typeface="Arial MT"/>
              </a:rPr>
              <a:t> </a:t>
            </a:r>
            <a:r>
              <a:rPr sz="1350" b="0" spc="-10" dirty="0">
                <a:solidFill>
                  <a:srgbClr val="262424"/>
                </a:solidFill>
                <a:latin typeface="Arial MT"/>
                <a:cs typeface="Arial MT"/>
              </a:rPr>
              <a:t>150.00</a:t>
            </a:r>
            <a:endParaRPr sz="1350">
              <a:latin typeface="Arial MT"/>
              <a:cs typeface="Arial MT"/>
            </a:endParaRPr>
          </a:p>
          <a:p>
            <a:pPr marL="257810">
              <a:lnSpc>
                <a:spcPct val="100000"/>
              </a:lnSpc>
              <a:spcBef>
                <a:spcPts val="550"/>
              </a:spcBef>
            </a:pP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 marL="175260">
              <a:lnSpc>
                <a:spcPct val="100000"/>
              </a:lnSpc>
              <a:spcBef>
                <a:spcPts val="555"/>
              </a:spcBef>
            </a:pPr>
            <a:r>
              <a:rPr sz="1350" b="0" dirty="0">
                <a:solidFill>
                  <a:srgbClr val="262424"/>
                </a:solidFill>
                <a:latin typeface="Arial MT"/>
                <a:cs typeface="Arial MT"/>
              </a:rPr>
              <a:t>}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4300"/>
              </a:lnSpc>
            </a:pPr>
            <a:r>
              <a:rPr sz="1350" b="0" spc="-60" dirty="0">
                <a:solidFill>
                  <a:srgbClr val="262424"/>
                </a:solidFill>
                <a:latin typeface="Verdana"/>
                <a:cs typeface="Verdana"/>
              </a:rPr>
              <a:t>Confirms</a:t>
            </a:r>
            <a:r>
              <a:rPr sz="1350" b="0" spc="-10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b="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80" dirty="0">
                <a:solidFill>
                  <a:srgbClr val="262424"/>
                </a:solidFill>
                <a:latin typeface="Verdana"/>
                <a:cs typeface="Verdana"/>
              </a:rPr>
              <a:t>reservation</a:t>
            </a:r>
            <a:r>
              <a:rPr sz="1350" b="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70" dirty="0">
                <a:solidFill>
                  <a:srgbClr val="262424"/>
                </a:solidFill>
                <a:latin typeface="Verdana"/>
                <a:cs typeface="Verdana"/>
              </a:rPr>
              <a:t>upon</a:t>
            </a:r>
            <a:r>
              <a:rPr sz="1350" b="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35" dirty="0">
                <a:solidFill>
                  <a:srgbClr val="262424"/>
                </a:solidFill>
                <a:latin typeface="Verdana"/>
                <a:cs typeface="Verdana"/>
              </a:rPr>
              <a:t>successful</a:t>
            </a:r>
            <a:r>
              <a:rPr sz="1350" b="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100" dirty="0">
                <a:solidFill>
                  <a:srgbClr val="262424"/>
                </a:solidFill>
                <a:latin typeface="Verdana"/>
                <a:cs typeface="Verdana"/>
              </a:rPr>
              <a:t>payment,</a:t>
            </a:r>
            <a:r>
              <a:rPr sz="1350" b="0" spc="-9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40" dirty="0">
                <a:solidFill>
                  <a:srgbClr val="262424"/>
                </a:solidFill>
                <a:latin typeface="Verdana"/>
                <a:cs typeface="Verdana"/>
              </a:rPr>
              <a:t>finalizing </a:t>
            </a:r>
            <a:r>
              <a:rPr sz="1350" b="0" spc="-85" dirty="0">
                <a:solidFill>
                  <a:srgbClr val="262424"/>
                </a:solidFill>
                <a:latin typeface="Verdana"/>
                <a:cs typeface="Verdana"/>
              </a:rPr>
              <a:t>the</a:t>
            </a:r>
            <a:r>
              <a:rPr sz="1350" b="0" spc="-13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65" dirty="0">
                <a:solidFill>
                  <a:srgbClr val="262424"/>
                </a:solidFill>
                <a:latin typeface="Verdana"/>
                <a:cs typeface="Verdana"/>
              </a:rPr>
              <a:t>seat</a:t>
            </a:r>
            <a:r>
              <a:rPr sz="1350" b="0" spc="-12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350" b="0" spc="-10" dirty="0">
                <a:solidFill>
                  <a:srgbClr val="262424"/>
                </a:solidFill>
                <a:latin typeface="Verdana"/>
                <a:cs typeface="Verdana"/>
              </a:rPr>
              <a:t>allocation.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808</Words>
  <Application>Microsoft Office PowerPoint</Application>
  <PresentationFormat>Custom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Tahoma</vt:lpstr>
      <vt:lpstr>Verdana</vt:lpstr>
      <vt:lpstr>Office Theme</vt:lpstr>
      <vt:lpstr>Scalable Event Ticketing s Seat A location System</vt:lpstr>
      <vt:lpstr>The Cha lenge: High Demand, Critical Performance</vt:lpstr>
      <vt:lpstr>Key Stakeholders in Our Ecosystem</vt:lpstr>
      <vt:lpstr>User Stories: A Glimpse into Interactions</vt:lpstr>
      <vt:lpstr>Critical Non-Functional Requirements</vt:lpstr>
      <vt:lpstr>System Architecture Overview</vt:lpstr>
      <vt:lpstr>Core Microservices: The Heart of the System</vt:lpstr>
      <vt:lpstr>Essential Supporting Components</vt:lpstr>
      <vt:lpstr>Seat Reservation Flow</vt:lpstr>
      <vt:lpstr>API Contracts: Defining Interactions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sricharan varangal</cp:lastModifiedBy>
  <cp:revision>2</cp:revision>
  <dcterms:created xsi:type="dcterms:W3CDTF">2025-11-20T06:19:36Z</dcterms:created>
  <dcterms:modified xsi:type="dcterms:W3CDTF">2025-11-20T06:25:11Z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2025-11-20T00:00:00Z</vt:filetime>
  </property>
  <property fmtid="{D5CDD505-2E9C-101B-9397-08002B2CF9AE}" pid="5" name="Producer">
    <vt:lpwstr>GPL Ghostscript 9.56.1</vt:lpwstr>
  </property>
</Properties>
</file>